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515600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Azure Database Benchmark — Game OLTP Workload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657600"/>
            <a:ext cx="10515600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CADCFC"/>
                </a:solidFill>
                <a:latin typeface="Calibri"/>
              </a:rPr>
              <a:t>Exp B: MySQL Flexible Server Premium SSD v1 vs v2   |   Exp A: PostgreSQL Flexible Server vs HorizonDB
Gate-validated open-loop measurements · 2026-08-17 UTC · Euson Internal Subscription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761"/>
                </a:solidFill>
                <a:latin typeface="Calibri"/>
              </a:rP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0667A"/>
                </a:solidFill>
                <a:latin typeface="Calibri"/>
              </a:rPr>
              <a:t>what was measured, what passed validation, what it means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Calibri"/>
              </a:rPr>
              <a:t>•  Exp B C1 @ 5,000/s: v2 vs v1 p99 +2.8% (CI [-44.7%, +156.4%]), p50 -28.6%; usable pairs 3/3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Calibri"/>
              </a:rPr>
              <a:t>•  Exp B C5 @ 5,000/s: v2 vs v1 p99 +46.5% (CI [-12.2%, +289.4%]), p50 -33.6%; usable pairs 3/3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Calibri"/>
              </a:rPr>
              <a:t>•  Exp A C1 @ 5,500/s: HorizonDB vs PG p99 -89.8% (CI [-95.2%, -84.0%]); usable pairs 3/3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Calibri"/>
              </a:rPr>
              <a:t>•  Exp A C5 @ 5,500/s: HorizonDB vs PG p99 - (CI None); usable pairs 1/3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Calibri"/>
              </a:rPr>
              <a:t>•  All reported numbers come only from runs that passed the hard validity gates (dataset ≥ 2× buffer pool, physical reads &gt; 0, client CPU &lt; 60%, errors &lt; 1%, steady state, server metrics aligned to the UTC window).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Calibri"/>
              </a:rPr>
              <a:t>•  3 repetitions per cell (protocol baseline is 5) — CIs are wide; treat effects as directional unless the CI excludes 0.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Calibri"/>
              </a:rPr>
              <a:t>•  Exp A: HorizonDB's buffer cache (45 GB at 8 vCore, 90 GB at 16 vCore) exceeds the dataset — G1/G2 are soft-failed for HorizonDB; the comparison is 'storage-bound PG (P15 disk at 100% IOPS) vs cache-resident HorizonDB' at the same offered load. In C5, PG Flexible showed multi-second stalls in 2 of 3 reps (queue/latency gates failed → excluded), HorizonDB none.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Calibri"/>
              </a:rPr>
              <a:t>•  Exp B: MySQL is storage-bound in both cases (16 vCore did not raise the knee); v2's median latency is consistently lower, but v2 showed a tail-latency degradation episode in the 3rd repetition of both C1 and C5 (dirty pages ↑, threads_running spikes) — root cause not established; needs a longer soak.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761"/>
                </a:solidFill>
                <a:latin typeface="Calibri"/>
              </a:rPr>
              <a:t>Method — how validity was enforced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0667A"/>
                </a:solidFill>
                <a:latin typeface="Calibri"/>
              </a:rPr>
              <a:t>traditional load-testing protocol + automated gates; pilots/smoke never appear in result tables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54864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212121"/>
                </a:solidFill>
                <a:latin typeface="Calibri"/>
              </a:rPr>
              <a:t>•  Workload: game OLTP schema (accounts/inventory/sessions/ledger/matches/leaderboard/guilds), random incompressible payloads; S1 mix = 65% read / 35% write (profile 30, inventory 20, leaderboard 10, guild 5, session upsert 10, inventory update 12, match result 8, purchase 5).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12121"/>
                </a:solidFill>
                <a:latin typeface="Calibri"/>
              </a:rPr>
              <a:t>•  Key model: 20% of ops on a 50k-account hot set, 80% uniform over 2.5M accounts (top-1 key share ≈ 0.0004%).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12121"/>
                </a:solidFill>
                <a:latin typeface="Calibri"/>
              </a:rPr>
              <a:t>•  Load: closed-loop staircase finds the knee → open-loop Poisson-ish arrivals at ≈65% of the lower arm's knee; latency measured from scheduled arrival (no coordinated omission); HDR histogram (µs); errors counted separately.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12121"/>
                </a:solidFill>
                <a:latin typeface="Calibri"/>
              </a:rPr>
              <a:t>•  Concurrency: 256 dedicated connections per arm; queue pickup delay p99 gated &lt; 5 ms (no pool wait).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12121"/>
                </a:solidFill>
                <a:latin typeface="Calibri"/>
              </a:rPr>
              <a:t>•  Warm-up until last-120 s throughput CV &lt; 5%, then 10-minute measurement; both arms run in the same wall-clock window; 3 repetitions.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12121"/>
                </a:solidFill>
                <a:latin typeface="Calibri"/>
              </a:rPr>
              <a:t>•  Server evidence inside every run: SHOW GLOBAL STATUS / pg_stat_* every 5 s → read/write IOPS, buffer hit ratio; Azure Monitor sliced to the run window; Telegraf→InfluxDB→Grafana for live view.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12121"/>
                </a:solidFill>
                <a:latin typeface="Calibri"/>
              </a:rPr>
              <a:t>•  Statistics: paired log-ratio per repetition → geometric-mean Δ%, seeded bootstrap 95% CI, per-arm CV; gate-failed runs excluded and listed.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309360" y="1280160"/>
          <a:ext cx="53035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4663440"/>
              </a:tblGrid>
              <a:tr h="2743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Gate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Rule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G1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dataset ≥ 2× buffer pool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G2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read IOPS &gt; 0 and hit ratio &lt; 99%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G3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client CPU &lt; 60%, NIC &lt; 50% (measured)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G4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queue pickup p99 &lt; 5 ms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G5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errors &lt; 1%, timeouts &lt; 0.5%, drops &lt; 0.1%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G6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≥3 server samples, 0 errors, UTC-aligned; Azure Monitor non-empty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G7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steady state CV &lt; 5% before measuring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G9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app invariants (ledger = spent, no negatives)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G10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≥ 95% of planned duration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761"/>
                </a:solidFill>
                <a:latin typeface="Calibri"/>
              </a:rPr>
              <a:t>Exp B environment &amp; confound table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0667A"/>
                </a:solidFill>
                <a:latin typeface="Calibri"/>
              </a:rPr>
              <a:t>MySQL Flexible Server 8.4.9, Korea Central, Same-zone HA, storage 128 GiB, both arms 5,000 provisioned IOPS (same-IOPS cell)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8016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108960"/>
                <a:gridCol w="3108960"/>
                <a:gridCol w="2834640"/>
              </a:tblGrid>
              <a:tr h="2743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v1 (Premium SSD v1)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v2 (Premium SSD v2)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Controlled?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Compute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Standard_E8ds_v5 (8 vCore / 64 GiB) → C5: E16ds_v5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Standard_E8ds_v6 (8 vCore / 64 GiB) → C5: E16ds_v6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Generation differs (platform forces v6 for SSD v2) — confound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Storage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Premium_LRS 128 GiB, 5,000 IOPS (paid additional IOPS)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PremiumV2_LRS 128 GiB, 5,000 IOPS / 125 MB/s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IOPS matched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innodb_buffer_pool_size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8 GiB (pinned)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8 GiB (pinned)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controlled (pre-registered; default would be 48 GiB)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innodb_doublewrite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OFF (platform read-only)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ON (platform read-only)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cannot control — confound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Dataset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24.4 GiB (3.05× buffer pool)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23.7 GiB (2.96× buffer pool)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same generator/seed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HA / zone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SameZone / zone 1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SameZone / zone 1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controlled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Network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public endpoint + TLS from bench VM (D16ds_v5, same region)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same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controlled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761"/>
                </a:solidFill>
                <a:latin typeface="Calibri"/>
              </a:rPr>
              <a:t>Exp B (MySQL SSD v1 vs v2) — overview across cases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0667A"/>
                </a:solidFill>
                <a:latin typeface="Calibri"/>
              </a:rPr>
              <a:t>arms: v1 = Premium SSD v1, v2 = Premium SSD v2 (same-IOPS 5,000)  |  medians of gate-passing repetitions; Δ = geometric-mean paired change of second arm vs first with 95% bootstrap CI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704320" cy="8229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731520"/>
                <a:gridCol w="548640"/>
                <a:gridCol w="1280160"/>
                <a:gridCol w="1280160"/>
                <a:gridCol w="1280160"/>
                <a:gridCol w="1371600"/>
                <a:gridCol w="1280160"/>
                <a:gridCol w="1280160"/>
                <a:gridCol w="1005840"/>
                <a:gridCol w="822960"/>
              </a:tblGrid>
              <a:tr h="274319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Cell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Rate/s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pairs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p50 A→B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p95 A→B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p99 A→B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p99.9 A→B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Δ p50 [CI]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Δ p99 [CI]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read IOPS A/B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hit A/B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C1/S1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5,000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3/3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3.5 ms → 2.3 ms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19.4 ms → 15.3 ms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25.2 ms → 18.5 ms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43.1 ms → 26.3 ms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-29% [-39, -14]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+3% [-45, +156]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2,225 → 1,519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0.9752 → 0.9791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2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C5/S1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5,000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3/3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3.7 ms → 2.3 ms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19.2 ms → 17.1 ms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24.2 ms → 22.2 ms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56.7 ms → 28.3 ms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-34% [-40, -26]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+47% [-12, +289]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1,658 → 1,539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0.9778 → 0.9789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120640"/>
            <a:ext cx="11247120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0667A"/>
                </a:solidFill>
                <a:latin typeface="Calibri"/>
              </a:rPr>
              <a:t>A = first arm, B = second arm (v1→v2 / postgres→horizon). C1 = 8 vCore + Same-zone HA, C5 = 16 vCore + Same-zone HA; same dataset, same offered load, same client.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60667A"/>
                </a:solidFill>
                <a:latin typeface="Calibri"/>
              </a:rPr>
              <a:t>Read as: negative Δ latency = B faster. CIs from 3 repetitions are wide; a CI that excludes 0 is a directional finding, not a precise magnitude.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761"/>
                </a:solidFill>
                <a:latin typeface="Calibri"/>
              </a:rPr>
              <a:t>Exp B (MySQL SSD v1 vs v2) — C1 / S1 @ 5,000/s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0667A"/>
                </a:solidFill>
                <a:latin typeface="Calibri"/>
              </a:rPr>
              <a:t>arms: v1 = Premium SSD v1, v2 = Premium SSD v2 (same-IOPS 5,000)  |  usable pairs 3/3 (10-min open-loop measurements, arms run concurrently)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463040"/>
                <a:gridCol w="1463040"/>
                <a:gridCol w="1280160"/>
                <a:gridCol w="2011680"/>
                <a:gridCol w="731520"/>
                <a:gridCol w="2286000"/>
              </a:tblGrid>
              <a:tr h="2743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Outcome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v1 (median)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v2 (median)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Δ% v2 vs v1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95% CI (bootstrap)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 pairs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Reading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Throughput (TPS)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5,000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5,000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-0.0%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[-0.0%, +0.0%]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CI includes 0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p50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3.5 ms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2.3 ms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-28.6%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[-39.4%, -13.5%]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v2 lower (better)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p95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19.4 ms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15.3 ms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+11.3%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[-25.2%, +133.0%]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CI includes 0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p99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25.2 ms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18.5 ms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+2.8%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[-44.7%, +156.4%]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CI includes 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p99.9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43.1 ms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26.3 ms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-32.9%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[-79.3%, +108.6%]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CI includes 0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Error rate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0.000%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0.000%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insufficient pairs for effect/CI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Server read IOPS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2,225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1,519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Server write IOPS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2,183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3,299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Buffer hit ratio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0.9752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0.9791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72000"/>
            <a:ext cx="11064240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0667A"/>
                </a:solidFill>
                <a:latin typeface="Calibri"/>
              </a:rPr>
              <a:t>Gate status per repetition (G1 dataset≥2×buffer, G2 storage used, G3 client headroom, G4 queue, G5 errors, G6 metrics, G7 steady state, G10 duration; azmon=Azure Monitor slice; inv=invariants):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60667A"/>
                </a:solidFill>
                <a:latin typeface="Calibri"/>
              </a:rPr>
              <a:t>rep 1: v1: PASS tps=5000 p99=23.2ms   |   v2: PASS tps=5000 p99=17.8ms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60667A"/>
                </a:solidFill>
                <a:latin typeface="Calibri"/>
              </a:rPr>
              <a:t>rep 2: v1: PASS tps=5000 p99=33.5ms   |   v2: PASS tps=5000 p99=18.5ms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60667A"/>
                </a:solidFill>
                <a:latin typeface="Calibri"/>
              </a:rPr>
              <a:t>rep 3: v1: PASS tps=5000 p99=25.2ms   |   v2: PASS tps=5000 p99=64.6ms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761"/>
                </a:solidFill>
                <a:latin typeface="Calibri"/>
              </a:rPr>
              <a:t>Exp B (MySQL SSD v1 vs v2) — C1 time series (client TPS / p99 vs server IOPS, same UTC axis)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0667A"/>
                </a:solidFill>
                <a:latin typeface="Calibri"/>
              </a:rPr>
              <a:t>shaded = 10-minute measurement window; server IOPS from in-run status sampling (SHOW GLOBAL STATUS / pg_stat)</a:t>
            </a:r>
          </a:p>
        </p:txBody>
      </p:sp>
      <p:pic>
        <p:nvPicPr>
          <p:cNvPr id="4" name="Picture 3" descr="timeline_C1_S1_5000_re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6981713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761"/>
                </a:solidFill>
                <a:latin typeface="Calibri"/>
              </a:rPr>
              <a:t>Exp B (MySQL SSD v1 vs v2) — C1 knee search (closed-loop staircase)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0667A"/>
                </a:solidFill>
                <a:latin typeface="Calibri"/>
              </a:rPr>
              <a:t>used only to pick the open-loop measurement rate (≈65% of the lower arm's knee); not a result table</a:t>
            </a:r>
          </a:p>
        </p:txBody>
      </p:sp>
      <p:pic>
        <p:nvPicPr>
          <p:cNvPr id="4" name="Picture 3" descr="knee_C1_S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280160"/>
            <a:ext cx="910336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761"/>
                </a:solidFill>
                <a:latin typeface="Calibri"/>
              </a:rPr>
              <a:t>Exp B (MySQL SSD v1 vs v2) — C5 / S1 @ 5,000/s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0667A"/>
                </a:solidFill>
                <a:latin typeface="Calibri"/>
              </a:rPr>
              <a:t>arms: v1 = Premium SSD v1, v2 = Premium SSD v2 (same-IOPS 5,000)  |  usable pairs 3/3 (10-min open-loop measurements, arms run concurrently)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463040"/>
                <a:gridCol w="1463040"/>
                <a:gridCol w="1280160"/>
                <a:gridCol w="2011680"/>
                <a:gridCol w="731520"/>
                <a:gridCol w="2286000"/>
              </a:tblGrid>
              <a:tr h="2743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Outcome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v1 (median)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v2 (median)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Δ% v2 vs v1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95% CI (bootstrap)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 pairs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Reading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Throughput (TPS)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5,000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5,000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+0.0%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[-0.0%, +0.0%]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CI includes 0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p50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3.7 ms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2.3 ms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-33.6%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[-39.9%, -26.4%]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v2 lower (better)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p95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19.2 ms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17.1 ms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+29.8%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[-12.6%, +184.8%]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CI includes 0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p99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24.2 ms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22.2 ms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+46.5%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[-12.2%, +289.4%]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CI includes 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p99.9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56.7 ms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28.3 ms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-52.2%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[-93.9%, +221.9%]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CI includes 0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Error rate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0.000%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0.000%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insufficient pairs for effect/CI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Server read IOPS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1,658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1,539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Server write IOPS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2,138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3,242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Buffer hit ratio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0.9778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0.9789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72000"/>
            <a:ext cx="11064240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0667A"/>
                </a:solidFill>
                <a:latin typeface="Calibri"/>
              </a:rPr>
              <a:t>Gate status per repetition (G1 dataset≥2×buffer, G2 storage used, G3 client headroom, G4 queue, G5 errors, G6 metrics, G7 steady state, G10 duration; azmon=Azure Monitor slice; inv=invariants):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60667A"/>
                </a:solidFill>
                <a:latin typeface="Calibri"/>
              </a:rPr>
              <a:t>rep 1: v1: PASS tps=5000 p99=23.3ms   |   v2: PASS tps=5000 p99=21.5ms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60667A"/>
                </a:solidFill>
                <a:latin typeface="Calibri"/>
              </a:rPr>
              <a:t>rep 2: v1: PASS tps=5000 p99=25.3ms   |   v2: PASS tps=5000 p99=22.2ms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60667A"/>
                </a:solidFill>
                <a:latin typeface="Calibri"/>
              </a:rPr>
              <a:t>rep 3: v1: PASS tps=5000 p99=24.2ms   |   v2: PASS tps=5000 p99=94.1ms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761"/>
                </a:solidFill>
                <a:latin typeface="Calibri"/>
              </a:rPr>
              <a:t>Exp B (MySQL SSD v1 vs v2) — C5 time series (client TPS / p99 vs server IOPS, same UTC axis)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0667A"/>
                </a:solidFill>
                <a:latin typeface="Calibri"/>
              </a:rPr>
              <a:t>shaded = 10-minute measurement window; server IOPS from in-run status sampling (SHOW GLOBAL STATUS / pg_stat)</a:t>
            </a:r>
          </a:p>
        </p:txBody>
      </p:sp>
      <p:pic>
        <p:nvPicPr>
          <p:cNvPr id="4" name="Picture 3" descr="timeline_C5_S1_5000_re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6981713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761"/>
                </a:solidFill>
                <a:latin typeface="Calibri"/>
              </a:rPr>
              <a:t>Exp B (MySQL SSD v1 vs v2) — latency percentiles by cell (median of ALL reps incl. gate-failed ones, whiskers = min/max)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0667A"/>
                </a:solidFill>
                <a:latin typeface="Calibri"/>
              </a:rPr>
              <a:t>log scale; lower is better; use the per-cell tables (gate-passing pairs only) for the estimates</a:t>
            </a:r>
          </a:p>
        </p:txBody>
      </p:sp>
      <p:pic>
        <p:nvPicPr>
          <p:cNvPr id="4" name="Picture 3" descr="latency_percent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1137920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761"/>
                </a:solidFill>
                <a:latin typeface="Calibri"/>
              </a:rPr>
              <a:t>Exp B (MySQL SSD v1 vs v2) — C5 knee search (closed-loop staircase)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0667A"/>
                </a:solidFill>
                <a:latin typeface="Calibri"/>
              </a:rPr>
              <a:t>used only to pick the open-loop measurement rate (≈65% of the lower arm's knee); not a result table</a:t>
            </a:r>
          </a:p>
        </p:txBody>
      </p:sp>
      <p:pic>
        <p:nvPicPr>
          <p:cNvPr id="4" name="Picture 3" descr="knee_C5_S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280160"/>
            <a:ext cx="910336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761"/>
                </a:solidFill>
                <a:latin typeface="Calibri"/>
              </a:rPr>
              <a:t>Exp A environment &amp; confound table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0667A"/>
                </a:solidFill>
                <a:latin typeface="Calibri"/>
              </a:rPr>
              <a:t>Australia East; PostgreSQL 17; both public endpoint + TLS from bench VM (D16ds_v5, same region)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80160"/>
          <a:ext cx="1106424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91840"/>
                <a:gridCol w="3291840"/>
                <a:gridCol w="2468880"/>
              </a:tblGrid>
              <a:tr h="2743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postgres (Flexible Server)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horizon (HorizonDB)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Controlled?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Compute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Standard_D8ds_v5 GeneralPurpose (8 vCore / 32 GiB) → C5: D16ds_v5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vCores 8 → C5: 16 (memory not exposed; shared_buffers 45,058 MB observed)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vCores matched only — memory differs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Storage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Premium SSD P15 256 GiB (1,100 IOPS baseline, burstable)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HorizonDB managed storage (IOPS not exposed)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not comparable — confound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HA / replica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SameZone HA, no read replica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replicaCount 1 (read-only endpoint exists, unused by workload)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best-effort mapping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shared_buffers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8 GB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45,058 MB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dataset (23 GiB) &lt; HZ cache → G1/G2 soft-fail for HZ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Version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17.10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17.9 (Azure HorizonDB)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Price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list price per vCore-hour differs; see cost note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report cost-normalised metric when billing data is available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761"/>
                </a:solidFill>
                <a:latin typeface="Calibri"/>
              </a:rPr>
              <a:t>Exp A (PostgreSQL vs HorizonDB) — overview across cases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0667A"/>
                </a:solidFill>
                <a:latin typeface="Calibri"/>
              </a:rPr>
              <a:t>arms: postgres = Flexible Server, horizon = HorizonDB  |  medians of gate-passing repetitions; Δ = geometric-mean paired change of second arm vs first with 95% bootstrap CI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704320" cy="8229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731520"/>
                <a:gridCol w="548640"/>
                <a:gridCol w="1280160"/>
                <a:gridCol w="1280160"/>
                <a:gridCol w="1280160"/>
                <a:gridCol w="1371600"/>
                <a:gridCol w="1280160"/>
                <a:gridCol w="1280160"/>
                <a:gridCol w="1005840"/>
                <a:gridCol w="822960"/>
              </a:tblGrid>
              <a:tr h="274319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Cell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Rate/s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pairs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p50 A→B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p95 A→B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p99 A→B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p99.9 A→B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Δ p50 [CI]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Δ p99 [CI]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read IOPS A/B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hit A/B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C1/S1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5,500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3/3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0.7 ms → 0.6 ms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14.2 ms → 3.6 ms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31.9 ms → 4.4 ms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142.5 ms → 9.8 ms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-24% [-25, -24]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-90% [-95, -84]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3,088 → 0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0.9730 → 1.0000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2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C5/S1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5,500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1/3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0.6 ms → 0.5 ms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15.2 ms → 3.3 ms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55.0 ms → 3.7 ms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106.7 ms → 4.3 ms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1,285 → 1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2121"/>
                          </a:solidFill>
                          <a:latin typeface="Calibri"/>
                        </a:rPr>
                        <a:t>0.9884 → 1.0000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120640"/>
            <a:ext cx="11247120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0667A"/>
                </a:solidFill>
                <a:latin typeface="Calibri"/>
              </a:rPr>
              <a:t>A = first arm, B = second arm (v1→v2 / postgres→horizon). C1 = 8 vCore + Same-zone HA, C5 = 16 vCore + Same-zone HA; same dataset, same offered load, same client.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60667A"/>
                </a:solidFill>
                <a:latin typeface="Calibri"/>
              </a:rPr>
              <a:t>Read as: negative Δ latency = B faster. CIs from 3 repetitions are wide; a CI that excludes 0 is a directional finding, not a precise magnitude.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761"/>
                </a:solidFill>
                <a:latin typeface="Calibri"/>
              </a:rPr>
              <a:t>Exp A (PostgreSQL vs HorizonDB) — C1 / S1 @ 5,500/s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0667A"/>
                </a:solidFill>
                <a:latin typeface="Calibri"/>
              </a:rPr>
              <a:t>arms: postgres = Flexible Server, horizon = HorizonDB  |  usable pairs 3/3 (10-min open-loop measurements, arms run concurrently)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463040"/>
                <a:gridCol w="1463040"/>
                <a:gridCol w="1280160"/>
                <a:gridCol w="2011680"/>
                <a:gridCol w="731520"/>
                <a:gridCol w="2286000"/>
              </a:tblGrid>
              <a:tr h="2743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Outcome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postgres (median)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horizon (median)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Δ% horizon vs postgres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95% CI (bootstrap)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 pairs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Reading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Throughput (TPS)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5,500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5,500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+0.0%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[+0.0%, +0.0%]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horizon higher (better)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p50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0.7 ms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0.6 ms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-24.5%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[-25.3%, -23.9%]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horizon lower (better)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p95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14.2 ms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3.6 ms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-79.0%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[-86.4%, -73.1%]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horizon lower (better)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p99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31.9 ms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4.4 ms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-89.8%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[-95.2%, -84.0%]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horizon lower (better)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p99.9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142.5 ms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9.8 ms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-92.8%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[-96.2%, -85.7%]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horizon lower (better)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Error rate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0.000%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0.000%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insufficient pairs for effect/CI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Server read IOPS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3,088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Server write IOPS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1,490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2,640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Buffer hit ratio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0.9730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1.0000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72000"/>
            <a:ext cx="11064240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0667A"/>
                </a:solidFill>
                <a:latin typeface="Calibri"/>
              </a:rPr>
              <a:t>Gate status per repetition (G1 dataset≥2×buffer, G2 storage used, G3 client headroom, G4 queue, G5 errors, G6 metrics, G7 steady state, G10 duration; azmon=Azure Monitor slice; inv=invariants):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60667A"/>
                </a:solidFill>
                <a:latin typeface="Calibri"/>
              </a:rPr>
              <a:t>rep 1: postgres: PASS tps=5500 p99=27.4ms   |   horizon: PASS tps=5500 p99=4.4ms soft-warn=['G1', 'G2']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60667A"/>
                </a:solidFill>
                <a:latin typeface="Calibri"/>
              </a:rPr>
              <a:t>rep 2: postgres: PASS tps=5500 p99=31.9ms   |   horizon: PASS tps=5500 p99=4.4ms soft-warn=['G1', 'G2']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60667A"/>
                </a:solidFill>
                <a:latin typeface="Calibri"/>
              </a:rPr>
              <a:t>rep 3: postgres: PASS tps=5500 p99=87.9ms   |   horizon: PASS tps=5500 p99=4.2ms soft-warn=['G1', 'G2']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761"/>
                </a:solidFill>
                <a:latin typeface="Calibri"/>
              </a:rPr>
              <a:t>Exp A (PostgreSQL vs HorizonDB) — C1 time series (client TPS / p99 vs server IOPS, same UTC axis)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0667A"/>
                </a:solidFill>
                <a:latin typeface="Calibri"/>
              </a:rPr>
              <a:t>shaded = 10-minute measurement window; server IOPS from in-run status sampling (SHOW GLOBAL STATUS / pg_stat)</a:t>
            </a:r>
          </a:p>
        </p:txBody>
      </p:sp>
      <p:pic>
        <p:nvPicPr>
          <p:cNvPr id="4" name="Picture 3" descr="timeline_C1_S1_5500_re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6981713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761"/>
                </a:solidFill>
                <a:latin typeface="Calibri"/>
              </a:rPr>
              <a:t>Exp A (PostgreSQL vs HorizonDB) — C1 knee search (closed-loop staircase)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0667A"/>
                </a:solidFill>
                <a:latin typeface="Calibri"/>
              </a:rPr>
              <a:t>used only to pick the open-loop measurement rate (≈65% of the lower arm's knee); not a result table</a:t>
            </a:r>
          </a:p>
        </p:txBody>
      </p:sp>
      <p:pic>
        <p:nvPicPr>
          <p:cNvPr id="4" name="Picture 3" descr="knee_C1_S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280160"/>
            <a:ext cx="910336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761"/>
                </a:solidFill>
                <a:latin typeface="Calibri"/>
              </a:rPr>
              <a:t>Exp A (PostgreSQL vs HorizonDB) — C5 / S1 @ 5,500/s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0667A"/>
                </a:solidFill>
                <a:latin typeface="Calibri"/>
              </a:rPr>
              <a:t>arms: postgres = Flexible Server, horizon = HorizonDB  |  usable pairs 1/3 (10-min open-loop measurements, arms run concurrently)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463040"/>
                <a:gridCol w="1463040"/>
                <a:gridCol w="1280160"/>
                <a:gridCol w="2011680"/>
                <a:gridCol w="731520"/>
                <a:gridCol w="2286000"/>
              </a:tblGrid>
              <a:tr h="2743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Outcome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postgres (median)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horizon (median)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Δ% horizon vs postgres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95% CI (bootstrap)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 pairs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Reading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Throughput (TPS)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5,500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5,500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insufficient pairs for effect/CI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p50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0.6 ms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0.5 ms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insufficient pairs for effect/CI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p95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15.2 ms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3.3 ms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insufficient pairs for effect/CI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p99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55.0 ms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3.7 ms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insufficient pairs for effect/CI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p99.9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106.7 ms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4.3 ms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insufficient pairs for effect/CI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Error rate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0.000%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0.000%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insufficient pairs for effect/CI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Server read IOPS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1,285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Server write IOPS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1,748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2,434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Buffer hit ratio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0.9884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1.0000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121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18288" marB="18288"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72000"/>
            <a:ext cx="11064240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0667A"/>
                </a:solidFill>
                <a:latin typeface="Calibri"/>
              </a:rPr>
              <a:t>Gate status per repetition (G1 dataset≥2×buffer, G2 storage used, G3 client headroom, G4 queue, G5 errors, G6 metrics, G7 steady state, G10 duration; azmon=Azure Monitor slice; inv=invariants):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60667A"/>
                </a:solidFill>
                <a:latin typeface="Calibri"/>
              </a:rPr>
              <a:t>rep 1: postgres: PASS tps=5500 p99=55.0ms soft-warn=['G1']   |   horizon: PASS tps=5500 p99=3.7ms soft-warn=['G1', 'G2']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60667A"/>
                </a:solidFill>
                <a:latin typeface="Calibri"/>
              </a:rPr>
              <a:t>rep 2: postgres: EXCLUDED tps=5405 p99=15614.0ms fail=['G1', 'G4', 'G5'] soft-warn=['G1']   |   horizon: PASS tps=5500 p99=3.7ms soft-warn=['G1', 'G2']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60667A"/>
                </a:solidFill>
                <a:latin typeface="Calibri"/>
              </a:rPr>
              <a:t>rep 3: postgres: EXCLUDED tps=5500 p99=3864.6ms fail=['G1', 'G4'] soft-warn=['G1']   |   horizon: PASS tps=5500 p99=3.7ms soft-warn=['G1', 'G2']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761"/>
                </a:solidFill>
                <a:latin typeface="Calibri"/>
              </a:rPr>
              <a:t>Exp A (PostgreSQL vs HorizonDB) — C5 time series (client TPS / p99 vs server IOPS, same UTC axis)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0667A"/>
                </a:solidFill>
                <a:latin typeface="Calibri"/>
              </a:rPr>
              <a:t>shaded = 10-minute measurement window; server IOPS from in-run status sampling (SHOW GLOBAL STATUS / pg_stat)</a:t>
            </a:r>
          </a:p>
        </p:txBody>
      </p:sp>
      <p:pic>
        <p:nvPicPr>
          <p:cNvPr id="4" name="Picture 3" descr="timeline_C5_S1_5500_re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6981713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761"/>
                </a:solidFill>
                <a:latin typeface="Calibri"/>
              </a:rPr>
              <a:t>Exp A (PostgreSQL vs HorizonDB) — latency percentiles by cell (median of ALL reps incl. gate-failed ones, whiskers = min/max)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0667A"/>
                </a:solidFill>
                <a:latin typeface="Calibri"/>
              </a:rPr>
              <a:t>log scale; lower is better; use the per-cell tables (gate-passing pairs only) for the estimates</a:t>
            </a:r>
          </a:p>
        </p:txBody>
      </p:sp>
      <p:pic>
        <p:nvPicPr>
          <p:cNvPr id="4" name="Picture 3" descr="latency_percent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1137920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761"/>
                </a:solidFill>
                <a:latin typeface="Calibri"/>
              </a:rPr>
              <a:t>Exp A (PostgreSQL vs HorizonDB) — C5 knee search (closed-loop staircase)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0667A"/>
                </a:solidFill>
                <a:latin typeface="Calibri"/>
              </a:rPr>
              <a:t>used only to pick the open-loop measurement rate (≈65% of the lower arm's knee); not a result table</a:t>
            </a:r>
          </a:p>
        </p:txBody>
      </p:sp>
      <p:pic>
        <p:nvPicPr>
          <p:cNvPr id="4" name="Picture 3" descr="knee_C5_S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280160"/>
            <a:ext cx="910336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761"/>
                </a:solidFill>
                <a:latin typeface="Calibri"/>
              </a:rPr>
              <a:t>Limitations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212121"/>
                </a:solidFill>
                <a:latin typeface="Calibri"/>
              </a:rPr>
              <a:t>•  Only C1 (8 vCore / Same-zone HA / no replica) and C5 (16 vCore) were run, scenario S1, 3 repetitions each (time-boxed to ~7 h). Protocol baseline is 5 reps and 4 scenarios; C2/C3/C4/C6/C7/C8 pending.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12121"/>
                </a:solidFill>
                <a:latin typeface="Calibri"/>
              </a:rPr>
              <a:t>•  Exp B confounds that cannot be removed on the platform: compute generation (v5 vs v6) and innodb_doublewrite (OFF vs ON). Effects should be read as 'SSD v1 product configuration vs SSD v2 product configuration'.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12121"/>
                </a:solidFill>
                <a:latin typeface="Calibri"/>
              </a:rPr>
              <a:t>•  Exp A: HorizonDB exposes far more cache than the Flexible Server SKU with the same vCores; the dataset would need to exceed ~90 GiB to make HorizonDB storage-bound. HorizonDB storage IOPS/memory are not exposed by the preview API.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12121"/>
                </a:solidFill>
                <a:latin typeface="Calibri"/>
              </a:rPr>
              <a:t>•  Buffer pool was pinned to 8 GiB on MySQL to make the storage tier observable within budget; production defaults (48 GiB) would keep more of a 24 GiB dataset in memory.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12121"/>
                </a:solidFill>
                <a:latin typeface="Calibri"/>
              </a:rPr>
              <a:t>•  Same-IOPS cell only (5,000 IOPS on both). The 'as-provisioned' cell (v1 default free IOPS) was not run.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12121"/>
                </a:solidFill>
                <a:latin typeface="Calibri"/>
              </a:rPr>
              <a:t>•  Cost: actual billing not yet available; cost-normalised comparisons to be added when Cost Management ingests usage.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12121"/>
                </a:solidFill>
                <a:latin typeface="Calibri"/>
              </a:rPr>
              <a:t>•  All raw run JSON (client histograms, per-second series, server status series, Azure Monitor slices, gate verdicts) is in results/; analysis is reproducible with scripts/analyze.py.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