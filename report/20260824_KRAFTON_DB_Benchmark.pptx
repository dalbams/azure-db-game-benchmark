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14630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365760"/>
            <a:ext cx="7132320" cy="4754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7000" b="1">
                <a:solidFill>
                  <a:srgbClr val="0E2E52"/>
                </a:solidFill>
                <a:latin typeface="Malgun Gothic"/>
              </a:rPr>
              <a:t>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0"/>
            <a:ext cx="548640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6E4F2"/>
                </a:solidFill>
                <a:latin typeface="Malgun Gothic"/>
              </a:rPr>
              <a:t>Microsoft Azure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731520" cy="82296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1051560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50E6FF"/>
                </a:solidFill>
                <a:latin typeface="Malgun Gothic"/>
              </a:rPr>
              <a:t>게임 워크로드 기준 성능 비교 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1155680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Azure Database 성능 비교 결과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24528"/>
            <a:ext cx="1097280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FC1E2"/>
                </a:solidFill>
                <a:latin typeface="Malgun Gothic"/>
              </a:rPr>
              <a:t>MySQL Premium SSD v1 vs v2  ·  PostgreSQL Flexible Server vs Azure HorizonDB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42432"/>
            <a:ext cx="109728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4D9"/>
                </a:solidFill>
                <a:latin typeface="Malgun Gothic"/>
              </a:rPr>
              <a:t>일자 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2026년 8월</a:t>
            </a:r>
            <a:r>
              <a:rPr sz="1200" b="0">
                <a:solidFill>
                  <a:srgbClr val="8FB4D9"/>
                </a:solidFill>
                <a:latin typeface="Malgun Gothic"/>
              </a:rPr>
              <a:t>      대상 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KRAFTON 엔지니어링</a:t>
            </a:r>
            <a:r>
              <a:rPr sz="1200" b="0">
                <a:solidFill>
                  <a:srgbClr val="8FB4D9"/>
                </a:solidFill>
                <a:latin typeface="Malgun Gothic"/>
              </a:rPr>
              <a:t>      작성 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Microsoft (Euson)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오늘 전달할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54864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72768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무엇을, 어떻게 테스트했나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20824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게임 서비스 워크로드 재현 · 결과를 믿을 수 있게 만드는 10가지 검증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24328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24328"/>
            <a:ext cx="54864" cy="10515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0048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79776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MySQL — Premium SSD v1 vs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227832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같은 IOPS 조건에서 스토리지 세대만 바꿨을 때의 차이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31336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831336"/>
            <a:ext cx="54864" cy="105156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77056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986784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PostgreSQL vs Azure HorizonDB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434840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같은 vCore · 같은 부하에서 두 서비스의 응답 특성 비교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38344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38344"/>
            <a:ext cx="54864" cy="105156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84064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93792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결론과 다음 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641848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권고 사항 · 아직 확인하지 못한 항목과 예상 소요 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한눈에 보는 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MySQL: SSD v2, 평균 응답 약 30%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8423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같은 IOPS(5,000) 조건에서 중앙값 응답시간이 모든 시나리오에서 v1보다 빠름 (−18 ~ −34%)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쓰기 집중 부하에서는 상위 1% 느린 요청(p99)도 55% 개선 — 게임 결산·랭킹 갱신에 유리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21031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MySQL: 다만 v2에서 간헐적 지연 급증 관찰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8423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일반 플레이 부하 3회 중 1회꼴로 p99가 3~4배 튀는 구간 발생 (원인 미확정)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HA 해제 상태에서는 v2의 p99가 오히려 30% 높게 측정 — 장시간 검증 후 전환 권고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54864" cy="210312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41064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HorizonDB: 같은 부하에서 꼬리 지연 최대 90% 낮음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54424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초당 5,500건 부하에서 p99가 PostgreSQL 32ms vs HorizonDB 4.4ms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부하를 3배로 튀겨도(로그인 러시) 지연이 거의 흔들리지 않음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94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54864" cy="210312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41064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HorizonDB: 단, 완전히 같은 조건의 비교는 아님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54424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HorizonDB는 캐시 메모리가 5배 이상 커서 데이터 전체가 메모리에 상주 (보고서에 명시)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시간당 요금도 약 1.8배 — 비용까지 고려한 판단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8D4"/>
                </a:solidFill>
                <a:latin typeface="Malgun Gothic"/>
              </a:rPr>
              <a:t>본 문서의 모든 수치는 검증 기준(6쪽)을 통과한 측정에서만 산출했습니다. 통과하지 못한 측정은 결과에서 제외하고 사유를 기록했습니다.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왜 이 테스트를 다시 설계했나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4465C"/>
                </a:solidFill>
                <a:latin typeface="Malgun Gothic"/>
              </a:rPr>
              <a:t>이전 두 차례 시도는 파이프라인은 완성했지만, 아래 세 가지 이유로 “성능 비교”로 쓸 수 있는 데이터를 남기지 못했습니다.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4864" cy="20116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12264"/>
            <a:ext cx="31089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데이터가 너무 작았다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8004"/>
            <a:ext cx="310896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데이터 전체가 DB 메모리에 올라가 디스크를 한 번도 읽지 않음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→ 스토리지 비교인데 스토리지가 쓰이지 않는 실험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9659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965960"/>
            <a:ext cx="54864" cy="20116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112264"/>
            <a:ext cx="31089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부하 도구가 먼저 무너졌다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318004"/>
            <a:ext cx="310896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연결 수보다 훨씬 많은 요청을 밀어 넣어 클라이언트 쪽에서 타임아웃 폭주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→ DB 한계가 아니라 측정 도구의 한계를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9659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965960"/>
            <a:ext cx="54864" cy="20116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112264"/>
            <a:ext cx="31089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서버 쪽 증거가 없었다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318004"/>
            <a:ext cx="310896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시간대 변환 오류로 서버 지표가 실험 시간과 어긋나 전부 비어 있음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→ DB가 실제로 어떤 상태였는지 증명 불가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108813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54864" cy="17373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525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이번 설계의 핵심: “실패 조건을 먼저 정의”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65904"/>
            <a:ext cx="10424160" cy="11887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측정 전 10가지 검증 기준(게이트)을 정하고, 하나라도 어기면 그 측정은 폐기 후 재실행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데이터 크기를 메모리의 3배(약 24GiB)로 키워 디스크가 실제로 일하는 상태에서 측정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클라이언트 자원(CPU·연결·큐)을 함께 기록해 “측정 도구가 병목이 아니었다”를 증명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서버 지표는 UTC 기준으로 측정 구간에 정확히 잘라 결과 파일에 첨부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어떻게 측정했나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38328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게임 서비스 워크로드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38328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250만 계정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383280" cy="3108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계정·인벤토리·세션·구매 원장·매치 결과·랭킹·길드 8개 테이블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압축이 안 되는 랜덤 데이터로 약 24GiB 구성 (DB 캐시 8GiB의 3배)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읽기 65% / 쓰기 35%의 일반 플레이 믹스 외에 쓰기 집중·로그인 러시·핫스팟 시나리오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구매는 원장 기록과 잔액 차감이 함께 묶인 트랜잭션 — 측정 후 장부 대조로 데이터 훼손 여부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66751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54864" cy="2148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9344"/>
            <a:ext cx="621792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부하는 “현실적인 방식”으로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22704"/>
            <a:ext cx="6217920" cy="1600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먼저 동시성을 계단식으로 올려 서버가 감당 가능한 한계점(knee)을 찾음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본 측정은 한계점의 65% 수준에서 초당 요청 수를 고정해 10분간 진행 — 실제 서비스처럼 요청이 서버 상태와 무관하게 계속 도착하는 방식(open-loop)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응답시간은 “요청이 도착하기로 한 시각”부터 측정해 대기 시간 누락 없이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840480"/>
            <a:ext cx="66751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840480"/>
            <a:ext cx="54864" cy="21945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986784"/>
            <a:ext cx="621792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비교는 “공정한 방식”으로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200144"/>
            <a:ext cx="6217920" cy="16459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두 비교 대상을 같은 시각에 나란히 실행 — 네트워크·시간대 요인이 양쪽에 똑같이 작용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시나리오마다 3~5회 반복하고, 효과 크기는 반복 쌍의 변화율 평균과 95% 신뢰구간으로 보고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예열(warmup) 후 처리량이 안정된 것을 확인한 뒤에만 측정 시작 · 반복 사이 냉각 시간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VALIDITY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결과를 믿을 수 있는 이유 — 10가지 자동 검증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확인하는 것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통과 조건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G1  데이터 크기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디스크가 실제로 쓰이는 조건인가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데이터 ≥ DB 캐시의 2배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G2  스토리지 사용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디스크 읽기가 실제로 발생했나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물리 읽기 IOPS &gt; 0, 캐시 적중률 &lt; 99%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G3  클라이언트 여유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측정 도구가 병목은 아니었나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부하 VM CPU &lt; 60%, 네트워크 &lt; 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G4  대기열 지연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요청이 도구 안에서 밀리지 않았나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큐 대기 p99 &lt; 5ms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G5  오류율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정상 처리 기준의 측정인가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오류 &lt; 1%, 타임아웃 &lt; 0.5%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G6  서버 지표 정합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서버 쪽 증거가 남았나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측정 구간(UTC)과 ±1분 이내 일치, 값 존재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G7  안정 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예열이 끝난 뒤 측정했나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직전 2분 처리량 변동 &lt; 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G9  데이터 정합성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부하가 데이터를 훼손하지 않았나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구매 원장 합계 = 잔액 차감 합계, 음수 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G10 측정 시간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계획한 만큼 측정했나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계획 시간의 95% 이상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2233A"/>
                </a:solidFill>
                <a:latin typeface="Malgun Gothic"/>
              </a:rPr>
              <a:t>하나라도 어기면 그 측정은 결과에서 제외하고, 원인을 고친 뒤 다시 측정했습니다. </a:t>
            </a:r>
            <a:r>
              <a:rPr sz="1150" b="0">
                <a:solidFill>
                  <a:srgbClr val="34465C"/>
                </a:solidFill>
                <a:latin typeface="Malgun Gothic"/>
              </a:rPr>
              <a:t>제외 내역은 부록의 실행 로그에 모두 남아 있습니다. 최종 데이터 정합성 검사는 4개 DB 모두 위반 0건이었습니다.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MySQL — SSD v1 vs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Azure Database for MySQL – Flexible Server (8.4)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같은 IOPS(5,000)로 맞춘 공정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일반 플레이 · 쓰기 집중 · 로그인 러시 · 핫스팟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8 vCore(C1)와 16 vCore(C5·C7)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TEST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무엇을 같게 하고, 무엇이 다른가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338328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v1 (Premium SSD v1)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v2 (Premium SSD v2)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스토리지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Premium SSD v1 · 128GiB · 5,000 IOPS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Premium SSD v2 · 128GiB · 5,000 IOPS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비교 대상 (IOPS 동일하게 구매)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컴퓨팅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E8ds_v5 → E16ds (8→16 vCore, 64GiB)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E8ds_v6 → E16ds (동일)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플랫폼이 v2에 v6 세대를 강제 — 통제 불가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DB 캐시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8GiB로 고정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8GiB로 고정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디스크가 쓰이도록 의도적으로 축소 (사전 등록)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doublewrite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OFF (플랫폼 고정)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ON (플랫폼 고정)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쓰기 경로 차이 — 통제 불가, 결과 해석에 반영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데이터·부하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동일 (같은 시드, 같은 시각 병렬 실행)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구성 케이스: 8vCore+HA / 16vCore+HA / 16vCore 단독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17720"/>
            <a:ext cx="10881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54864" cy="1371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6402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해석 시 유의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2144"/>
            <a:ext cx="1042416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컴퓨팅 세대(v5/v6)와 doublewrite는 플랫폼이 고정한 값이라 분리할 수 없음 — 이 결과는 “스토리지 매체 단독”이 아니라 “SSD v1 제품 구성 vs SSD v2 제품 구성”의 비교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16 vCore로 늘려도 처리 한계가 늘지 않음 → 두 구성 모두 CPU가 아니라 스토리지가 병목인 상태에서 측정됨 (스토리지 비교로 적합한 조건)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시나리오별 결과 — v2가 v1 대비 얼마나 달랐나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822960"/>
                <a:gridCol w="2194560"/>
                <a:gridCol w="24688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구성 · 시나리오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부하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반복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평균 응답(p50)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상위 1% 지연(p99)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5,000/s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−28.6%  [−39, −14]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차이 확정 불가 (편차 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 (평균)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5,000/s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5/5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−34.0%  [−37, −30]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차이 확정 불가 (편차 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 (평균)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쓰기 집중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3,000/s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−17.9%  [−20, −17]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−55.2%  [−62, −44]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로그인 러시(3배)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2,000→6,000/s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−27.0%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요청 유실 v1 6.6% vs v2 3.8%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5,000/s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−33.7%  [−35, −33]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+30.0%  [+27, +33]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엇갈림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핫스팟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3,000/s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−19.2%  [−20, −18]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−33.4%  [−36, −29]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78D4"/>
                </a:solidFill>
                <a:latin typeface="Malgun Gothic"/>
              </a:rPr>
              <a:t>읽는 법 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음수 = v2가 빠름. [ ] 안은 95% 신뢰구간 — 구간이 0을 포함하면 “차이가 있다”고 확정하지 않았습니다.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078D4"/>
                </a:solidFill>
                <a:latin typeface="Malgun Gothic"/>
              </a:rPr>
              <a:t>“차이 확정 불가”의 이유 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일반 플레이에서는 v2가 3회 중 1회꼴로 p99가 3~4배 튀는 구간을 보여 반복 간 편차가 컸습니다. 이 급증이 없던 반복에서는 v2의 p99도 v1보다 낮았습니다.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응답시간 분포 비교 (막대 = 반복 중앙값, 선 = 최소~최대)</a:t>
            </a:r>
          </a:p>
        </p:txBody>
      </p:sp>
      <p:pic>
        <p:nvPicPr>
          <p:cNvPr id="6" name="Picture 5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481328"/>
            <a:ext cx="82296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세로축은 로그 스케일 — 낮을수록 좋음. p50(평균적 사용자 체감)은 전 구간에서 v2(빨강)가 낮고, p99 이상의 꼬리는 시나리오에 따라 우열이 갈립니다.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MySQL 결과가 의미하는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2240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확실한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평균 응답: 모든 시나리오·구성에서 v2가 18~34% 빠름 (신뢰구간이 0을 확실히 벗어남)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쓰기 집중·핫스팟처럼 디스크 쓰기가 많은 부하일수록 v2의 이점이 커짐 — p99 기준 33~55% 개선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로그인 러시(3배 버스트)에서 요청 유실이 v1의 절반 수준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22402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지켜봐야 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일반 플레이 부하에서 v2에 간헐적 p99 급증 (버퍼 오염 + 쓰기 몰림 정황, 원인 미확정)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HA 없는 구성에서는 v2의 p99가 일관되게 30% 높음 — HA 유무에 따라 꼬리 특성이 뒤집힘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doublewrite ON(v2)의 영향 가능성 — 플랫폼 고정값이라 실험으로 분리 불가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0881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4864" cy="19659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239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권고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29683"/>
            <a:ext cx="10424160" cy="14173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평균 응답과 쓰기 성능이 중요한 워크로드(결산·랭킹·이벤트 정산)는 v2 전환 이익이 분명함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다만 꼬리 지연에 민감한 실시간 기능이 있다면, 전환 전 24시간 이상 장시간 부하(soak)로 간헐 급증의 빈도·원인을 확인할 것을 권고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전환 시 IOPS·처리량을 독립 조정할 수 있는 v2의 과금 구조상, 현재 v1에서 IOPS 추가 구매 중인 서버일수록 비용 이점도 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PostgreSQL vs HorizonDB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Flexible Server (PG 17) vs Azure HorizonDB (Public Preview)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같은 vCore(8→16) · 같은 부하로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일반 플레이 · 쓰기 집중 · 로그인 러시 · 핫스팟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캐시 구조 차이를 명시한 조건부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TEST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무엇을 같게 하고, 무엇이 다른가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329184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PostgreSQL Flexible Server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Azure HorizonDB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컴퓨팅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D8ds_v5 → D16ds_v5 (8→16 vCore)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 → 16 vCore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vCore 수만 일치 가능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메모리 캐시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shared_buffers 8GB → 16GB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45GB → 90GB (자동 설정)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HorizonDB가 5배 이상 큼 — 핵심 차이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스토리지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Premium SSD P15 256GiB (1,100 IOPS)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관리형 스토리지 (내부 값 미공개)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동일하게 맞출 수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HA/복제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Same-zone HA → 해제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replicaCount 1 (최소값, 축소 불가)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“HA 없음” 구성이 HorizonDB에는 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시간당 요금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약 $0.79 (D16ds_v5 기준)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약 $1.4 이상 (16 vCore 환산)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약 1.8배 — 비용 반영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17720"/>
            <a:ext cx="10881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54864" cy="1371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6402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이 비교를 읽는 올바른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2144"/>
            <a:ext cx="1042416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데이터(23GiB)가 HorizonDB 캐시에는 전부 올라가고 PostgreSQL 캐시에는 절반도 안 올라감 → “디스크를 읽는 PG vs 메모리에서 답하는 HorizonDB”의 비교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따라서 이 결과는 “같은 돈으로 같은 vCore를 샀을 때의 체감 차이”로는 유효하지만, 엔진 자체의 우열로 해석하면 안 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시나리오별 결과 — HorizonDB가 PostgreSQL 대비 얼마나 달랐나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914400"/>
                <a:gridCol w="1737360"/>
                <a:gridCol w="27432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구성 · 시나리오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부하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유효 반복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평균 응답(p50)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상위 1% 지연(p99)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5,500/s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−24.5%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−89.8%  [−95, −84]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5,500/s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2/5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−16.9%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−87.1%  [−93, −75]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우세*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쓰기 집중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3,300/s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0/3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PG 전 회차 수 초 멈춤 발생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비교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로그인 러시(3배)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2,200→6,600/s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−60.5%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−94.5% (둘 다 유실 0)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5,500/s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−75.0%  [−94, −46]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핫스팟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3,300/s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−31.0%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−76.8%  [−88, −57]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78D4"/>
                </a:solidFill>
                <a:latin typeface="Malgun Gothic"/>
              </a:rPr>
              <a:t>* 유효 반복이 준 이유 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PostgreSQL이 측정 중 수 초간 멈추는(stall) 구간을 보인 반복은 검증 기준에서 탈락했습니다. 디스크 IOPS 소진(100%)과 체크포인트가 겹친 정황이며, 이 “탈락” 자체가 중요한 발견입니다.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2233A"/>
                </a:solidFill>
                <a:latin typeface="Malgun Gothic"/>
              </a:rPr>
              <a:t>HorizonDB는 전 시나리오에서 p99 4ms 안팎을 유지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— 부하를 3배로 튀겨도 흔들리지 않았습니다. 단, 캐시 상주 조건임을 함께 볼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응답시간 분포 비교 (막대 = 반복 중앙값, 선 = 최소~최대)</a:t>
            </a:r>
          </a:p>
        </p:txBody>
      </p:sp>
      <p:pic>
        <p:nvPicPr>
          <p:cNvPr id="6" name="Picture 5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481328"/>
            <a:ext cx="82296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세로축은 로그 스케일. PostgreSQL(파랑)은 p99 이상에서 편차가 크게 벌어지는 반면, HorizonDB(빨강)는 어느 백분위에서도 거의 흔들리지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PostgreSQL vs HorizonDB 결과가 의미하는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224028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HorizonDB의 강점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같은 vCore·같은 부하에서 꼬리 지연(p99)이 75~95% 낮고, 반복 간 편차가 거의 없음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로그인 러시 수준의 버스트(초당 6,600건)도 지연 변화 없이 흡수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vCore만 지정하면 캐시·스토리지를 서비스가 알아서 크게 잡아 주는 구조 자체가 운영 부담을 줄임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22402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판단 전 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캐시(메모리) 우위 조건의 결과 — 데이터가 캐시보다 커지는 규모(90GiB+)에서는 재검증 필요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Public Preview 단계: 내부 스토리지 사양·일부 지표 미공개, SLA 미확정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시간당 요금 약 1.8배 — 성능/비용 환산 시 격차는 줄어듦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0881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4864" cy="1965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239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함께 발견한 것 — PostgreSQL 쪽 개선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29683"/>
            <a:ext cx="10424160" cy="14173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PG는 쓰기 집중 부하에서 P15 디스크의 IOPS 한도(1,100)에 걸려 수 초간 멈추는 구간이 반복 발생 → HorizonDB와 무관하게, 현재 PG를 쓰는 워크로드라면 디스크 등급(P20+ 또는 Premium SSD v2) 상향 검토 가치가 있음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HA를 끄고 캐시를 16GB로 늘린 구성에서는 PG도 p99 7~8ms로 안정 — PG의 꼬리 지연은 상당 부분 디스크·HA 구성의 문제였음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결론과 다음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권고 사항 · 남은 검증 항목과 예상 소요 시간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의사결정 관점의 요약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아직 확인하지 못한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재현 방법과 원본 데이터 위치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의사결정 관점의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760720"/>
                <a:gridCol w="2011680"/>
              </a:tblGrid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현재 답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확신 수준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MySQL 스토리지를 v2로 바꿔야 하나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평균 응답·쓰기 성능·버스트 흡수 모두 v2 우세. 꼬리 지연 민감 서비스만 장시간 검증 후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높음 (평균) / 중간 (꼬리)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HorizonDB를 도입 후보로 볼 만한가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같은 vCore 기준 체감 성능은 확실히 우수. 단 캐시 우위 조건·프리뷰·1.8배 비용을 감안한 조건부 후보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중간 (조건부)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지금 PG 구성에서 개선할 것은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쓰기 부하가 있다면 디스크 등급 상향이 가장 급함 (IOPS 소진으로 인한 멈춤 실측)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이 결과를 그대로 일반화해도 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반복 3~5회 기준의 방향성 결론. 수치 자체보다 “방향과 조건”을 가져갈 것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한 줄 요약  </a:t>
            </a:r>
            <a:r>
              <a:rPr sz="1200" b="1">
                <a:solidFill>
                  <a:srgbClr val="12233A"/>
                </a:solidFill>
                <a:latin typeface="Malgun Gothic"/>
              </a:rPr>
              <a:t>“MySQL은 v2로 갈 이유가 충분하고, HorizonDB는 인상적이지만 조건을 붙여 지켜볼 단계, PG는 디스크부터 손보라”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82"/>
                </a:solidFill>
                <a:latin typeface="Malgun Gothic"/>
              </a:rPr>
              <a:t>모든 수치의 원본(측정 JSON·서버 지표·게이트 판정·실행 로그)은 git 저장소에 있으며, 스크립트 한 번으로 재현 가능합니다.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아직 확인하지 못한 항목과 예상 소요 시간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  <a:gridCol w="18288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무엇을 확인하나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예상 소요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우선순위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MySQL v2 장시간 soak (24h+)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간헐적 p99 급증의 원인 — v2 전환의 마지막 관문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1.5일(무인)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읽기 복제본 케이스 (C2·C4·C6·C8)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읽기 분산 효과 — 클라이언트 라우팅 구현 포함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2일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8vCore 단독(C3) + 반복 5회 승격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매트릭스 완성 및 기존 3회 셀의 신뢰구간 축소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HorizonDB 대용량 재검증 (90GiB+)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캐시를 넘는 데이터에서도 우위가 유지되는지 — 도입 판단의 핵심 근거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MySQL as-provisioned IOPS 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IOPS를 맞추지 않은 “기본 구성 그대로” 비교 (제품 기본값 관점)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0.5일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비용 정규화 (실청구 기반)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백만 트랜잭션당 실제 비용 비교 — 청구 데이터 수집 후 산출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0.5일+대기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2233A"/>
                </a:solidFill>
                <a:latin typeface="Malgun Gothic"/>
              </a:rPr>
              <a:t>전체 진행 시 약 5~6 작업일(무인 실행 시간 포함). </a:t>
            </a:r>
            <a:r>
              <a:rPr sz="1150" b="0">
                <a:solidFill>
                  <a:srgbClr val="34465C"/>
                </a:solidFill>
                <a:latin typeface="Malgun Gothic"/>
              </a:rPr>
              <a:t>현재 모든 서버는 중지/축소 상태이며, 재시작하면 데이터 재적재 없이 이어서 측정할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재현 방법과 원본 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3108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저장소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0803"/>
            <a:ext cx="4983480" cy="2560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cmd/gamebench — 부하 도구 (Go, MySQL·PostgreSQL 공용)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scripts/ — 배포·오케스트레이션·분석·보고서 생성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results/ — 측정별 원본 JSON (클라이언트 지표 + 서버 지표 + 게이트 판정)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analysis/ — 통계 결과와 차트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docs/run-log.md — 실패·수정 이력 전체 (UTC)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docs/plan.md — 사전 등록된 실험 계획서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31089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재현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0803"/>
            <a:ext cx="4983480" cy="2560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서버 재시작 → 벤치 VM 시작 (데이터는 보존됨)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knee-both.sh로 한계점 탐색 → run-case.sh로 본 측정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azmon_slice.py로 서버 지표를 측정 구간에 맞춰 첨부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analyze.py로 게이트 판정과 통계 산출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build_pptx_kr.py로 이 보고서 재생성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108813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54864" cy="118872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4690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측정 환경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45024"/>
            <a:ext cx="1042416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Korea Central (MySQL) · Australia East (PG/HorizonDB) · 부하 VM D16ds_v5 · 모니터링 Telegraf + InfluxDB + Grafana · 총 측정 기간 2026-08-17 ~ 08-18 (UTC)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