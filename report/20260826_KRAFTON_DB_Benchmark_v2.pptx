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E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754880" cy="14630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937760" y="365760"/>
            <a:ext cx="7132320" cy="4754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7000" b="1">
                <a:solidFill>
                  <a:srgbClr val="0E2E52"/>
                </a:solidFill>
                <a:latin typeface="Malgun Gothic"/>
              </a:rPr>
              <a:t>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914400"/>
            <a:ext cx="54864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6E4F2"/>
                </a:solidFill>
                <a:latin typeface="Malgun Gothic"/>
              </a:rPr>
              <a:t>Microsoft Azure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86000"/>
            <a:ext cx="73152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450592"/>
            <a:ext cx="1051560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50E6FF"/>
                </a:solidFill>
                <a:latin typeface="Malgun Gothic"/>
              </a:rPr>
              <a:t>게임 워크로드 기준 성능 비교 테스트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11155680" cy="10972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</a:rPr>
              <a:t>Azure Database 성능 비교 결과 보고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24528"/>
            <a:ext cx="109728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FC1E2"/>
                </a:solidFill>
                <a:latin typeface="Malgun Gothic"/>
              </a:rPr>
              <a:t>MySQL Premium SSD v1 vs v2  ·  PostgreSQL Flexible Server vs Azure HorizonDB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42432"/>
            <a:ext cx="1097280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FB4D9"/>
                </a:solidFill>
                <a:latin typeface="Malgun Gothic"/>
              </a:rPr>
              <a:t>일자  </a:t>
            </a:r>
            <a:r>
              <a:rPr sz="1200" b="1">
                <a:solidFill>
                  <a:srgbClr val="FFFFFF"/>
                </a:solidFill>
                <a:latin typeface="Malgun Gothic"/>
              </a:rPr>
              <a:t>2026년 8월</a:t>
            </a:r>
            <a:r>
              <a:rPr sz="1200" b="0">
                <a:solidFill>
                  <a:srgbClr val="8FB4D9"/>
                </a:solidFill>
                <a:latin typeface="Malgun Gothic"/>
              </a:rPr>
              <a:t>      대상  </a:t>
            </a:r>
            <a:r>
              <a:rPr sz="1200" b="1">
                <a:solidFill>
                  <a:srgbClr val="FFFFFF"/>
                </a:solidFill>
                <a:latin typeface="Malgun Gothic"/>
              </a:rPr>
              <a:t>KRAFTON 엔지니어링</a:t>
            </a:r>
            <a:r>
              <a:rPr sz="1200" b="0">
                <a:solidFill>
                  <a:srgbClr val="8FB4D9"/>
                </a:solidFill>
                <a:latin typeface="Malgun Gothic"/>
              </a:rPr>
              <a:t>      작성  </a:t>
            </a:r>
            <a:r>
              <a:rPr sz="1200" b="1">
                <a:solidFill>
                  <a:srgbClr val="FFFFFF"/>
                </a:solidFill>
                <a:latin typeface="Malgun Gothic"/>
              </a:rPr>
              <a:t>Microsoft (Euson)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오늘 전달할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10515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417320"/>
            <a:ext cx="54864" cy="10515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1463040"/>
            <a:ext cx="1280160" cy="9601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D7E3F2"/>
                </a:solidFill>
                <a:latin typeface="Malgun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572768"/>
            <a:ext cx="85953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2233A"/>
                </a:solidFill>
                <a:latin typeface="Malgun Gothic"/>
              </a:rPr>
              <a:t>무엇을, 어떻게 테스트했나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020824"/>
            <a:ext cx="85953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B82"/>
                </a:solidFill>
                <a:latin typeface="Malgun Gothic"/>
              </a:rPr>
              <a:t>게임 서비스 워크로드 재현 · 결과를 믿을 수 있게 만드는 10가지 검증 기준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24328"/>
            <a:ext cx="10515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2624328"/>
            <a:ext cx="54864" cy="105156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2670048"/>
            <a:ext cx="1280160" cy="9601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D7E3F2"/>
                </a:solidFill>
                <a:latin typeface="Malgun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779776"/>
            <a:ext cx="8595360" cy="3139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800" b="1" dirty="0">
                <a:solidFill>
                  <a:srgbClr val="12233A"/>
                </a:solidFill>
                <a:latin typeface="Malgun Gothic"/>
              </a:rPr>
              <a:t>Azure </a:t>
            </a:r>
            <a:r>
              <a:rPr sz="1800" b="1" dirty="0">
                <a:solidFill>
                  <a:srgbClr val="12233A"/>
                </a:solidFill>
                <a:latin typeface="Malgun Gothic"/>
              </a:rPr>
              <a:t>MySQL</a:t>
            </a:r>
            <a:r>
              <a:rPr lang="en-US" sz="1800" b="1" dirty="0">
                <a:solidFill>
                  <a:srgbClr val="12233A"/>
                </a:solidFill>
                <a:latin typeface="Malgun Gothic"/>
              </a:rPr>
              <a:t> Flexible</a:t>
            </a:r>
            <a:r>
              <a:rPr sz="1800" b="1" dirty="0">
                <a:solidFill>
                  <a:srgbClr val="12233A"/>
                </a:solidFill>
                <a:latin typeface="Malgun Gothic"/>
              </a:rPr>
              <a:t> — Premium SSD v1 vs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227832"/>
            <a:ext cx="8595360" cy="21390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dirty="0" err="1">
                <a:solidFill>
                  <a:srgbClr val="5A6B82"/>
                </a:solidFill>
                <a:latin typeface="Malgun Gothic"/>
              </a:rPr>
              <a:t>같은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IOPS </a:t>
            </a:r>
            <a:r>
              <a:rPr sz="1150" b="0" dirty="0" err="1">
                <a:solidFill>
                  <a:srgbClr val="5A6B82"/>
                </a:solidFill>
                <a:latin typeface="Malgun Gothic"/>
              </a:rPr>
              <a:t>조건에서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5A6B82"/>
                </a:solidFill>
                <a:latin typeface="Malgun Gothic"/>
              </a:rPr>
              <a:t>스토리지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</a:t>
            </a:r>
            <a:r>
              <a:rPr lang="ko-KR" altLang="en-US" sz="1150" dirty="0">
                <a:solidFill>
                  <a:srgbClr val="5A6B82"/>
                </a:solidFill>
                <a:latin typeface="Malgun Gothic"/>
              </a:rPr>
              <a:t>버전이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5A6B82"/>
                </a:solidFill>
                <a:latin typeface="Malgun Gothic"/>
              </a:rPr>
              <a:t>바꿨을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5A6B82"/>
                </a:solidFill>
                <a:latin typeface="Malgun Gothic"/>
              </a:rPr>
              <a:t>때의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5A6B82"/>
                </a:solidFill>
                <a:latin typeface="Malgun Gothic"/>
              </a:rPr>
              <a:t>차이</a:t>
            </a:r>
            <a:endParaRPr sz="1150" b="0" dirty="0">
              <a:solidFill>
                <a:srgbClr val="5A6B82"/>
              </a:solidFill>
              <a:latin typeface="Malgun Gothic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22960" y="3831336"/>
            <a:ext cx="10515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3831336"/>
            <a:ext cx="54864" cy="1051560"/>
          </a:xfrm>
          <a:prstGeom prst="rect">
            <a:avLst/>
          </a:prstGeom>
          <a:solidFill>
            <a:srgbClr val="3E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3877056"/>
            <a:ext cx="1280160" cy="9601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D7E3F2"/>
                </a:solidFill>
                <a:latin typeface="Malgun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986784"/>
            <a:ext cx="8595360" cy="3139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800" b="1" dirty="0">
                <a:solidFill>
                  <a:srgbClr val="12233A"/>
                </a:solidFill>
                <a:latin typeface="Malgun Gothic"/>
              </a:rPr>
              <a:t>Azure </a:t>
            </a:r>
            <a:r>
              <a:rPr sz="1800" b="1" dirty="0">
                <a:solidFill>
                  <a:srgbClr val="12233A"/>
                </a:solidFill>
                <a:latin typeface="Malgun Gothic"/>
              </a:rPr>
              <a:t>PostgreSQL</a:t>
            </a:r>
            <a:r>
              <a:rPr lang="en-US" sz="1800" b="1" dirty="0">
                <a:solidFill>
                  <a:srgbClr val="12233A"/>
                </a:solidFill>
                <a:latin typeface="Malgun Gothic"/>
              </a:rPr>
              <a:t> Flexible</a:t>
            </a:r>
            <a:r>
              <a:rPr sz="1800" b="1" dirty="0">
                <a:solidFill>
                  <a:srgbClr val="12233A"/>
                </a:solidFill>
                <a:latin typeface="Malgun Gothic"/>
              </a:rPr>
              <a:t> vs Azure </a:t>
            </a:r>
            <a:r>
              <a:rPr sz="1800" b="1" dirty="0" err="1">
                <a:solidFill>
                  <a:srgbClr val="12233A"/>
                </a:solidFill>
                <a:latin typeface="Malgun Gothic"/>
              </a:rPr>
              <a:t>HorizonDB</a:t>
            </a:r>
            <a:endParaRPr sz="1800" b="1" dirty="0">
              <a:solidFill>
                <a:srgbClr val="12233A"/>
              </a:solidFill>
              <a:latin typeface="Malgun Gothic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514600" y="4434840"/>
            <a:ext cx="85953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B82"/>
                </a:solidFill>
                <a:latin typeface="Malgun Gothic"/>
              </a:rPr>
              <a:t>같은 vCore · 같은 부하에서 두 서비스의 응답 특성 비교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38344"/>
            <a:ext cx="10515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5038344"/>
            <a:ext cx="54864" cy="105156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5084064"/>
            <a:ext cx="1280160" cy="9601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D7E3F2"/>
                </a:solidFill>
                <a:latin typeface="Malgun Gothi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5193792"/>
            <a:ext cx="85953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2233A"/>
                </a:solidFill>
                <a:latin typeface="Malgun Gothic"/>
              </a:rPr>
              <a:t>결론과 다음 단계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5641848"/>
            <a:ext cx="85953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B82"/>
                </a:solidFill>
                <a:latin typeface="Malgun Gothic"/>
              </a:rPr>
              <a:t>권고 사항 · 아직 확인하지 못한 항목과 예상 소요 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한눈에 보는 결론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54406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54864" cy="2103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MySQL: SSD v2, 평균 응답 약 30%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68423"/>
            <a:ext cx="4983480" cy="155447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같은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IOPS(5,000)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조건에서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중앙값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응답시간이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모든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시나리오에서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v1보다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빠름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(−18 ~ −34%)</a:t>
            </a:r>
          </a:p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쓰기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집중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부하에서는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상위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1%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느린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요청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(p99)도 55%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개선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—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게임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결산·랭킹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갱신에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유리</a:t>
            </a:r>
            <a:endParaRPr sz="1100" b="0" dirty="0">
              <a:solidFill>
                <a:srgbClr val="34465C"/>
              </a:solidFill>
              <a:latin typeface="Malgun Gothic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72200" y="1508760"/>
            <a:ext cx="54406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508760"/>
            <a:ext cx="54864" cy="210312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MySQL: 다만 v2에서 간헐적 지연 급증 관찰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68423"/>
            <a:ext cx="4983480" cy="155447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일반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플레이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부하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3회 중 1회꼴로 p99가 3~4배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튀는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구간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발생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(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원인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미확정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)</a:t>
            </a:r>
          </a:p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HA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해제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상태에서는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v2의 p99가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오히려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30%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높게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측정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—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장시간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검증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후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전환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권고</a:t>
            </a:r>
            <a:endParaRPr sz="1100" b="0" dirty="0">
              <a:solidFill>
                <a:srgbClr val="34465C"/>
              </a:solidFill>
              <a:latin typeface="Malgun Gothic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48640" y="3794760"/>
            <a:ext cx="54406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54864" cy="2103120"/>
          </a:xfrm>
          <a:prstGeom prst="rect">
            <a:avLst/>
          </a:prstGeom>
          <a:solidFill>
            <a:srgbClr val="3E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941064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HorizonDB: 같은 부하에서 꼬리 지연 최대 90% 낮음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54424"/>
            <a:ext cx="4983480" cy="155447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초당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5,500건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부하에서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p99가 PostgreSQL 32ms vs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HorizonDB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4.4ms</a:t>
            </a:r>
          </a:p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부하를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3배로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튀겨도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(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로그인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러시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)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지연이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거의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흔들리지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않음</a:t>
            </a:r>
            <a:endParaRPr sz="1100" b="0" dirty="0">
              <a:solidFill>
                <a:srgbClr val="34465C"/>
              </a:solidFill>
              <a:latin typeface="Malgun Gothic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172200" y="3794760"/>
            <a:ext cx="54406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72200" y="3794760"/>
            <a:ext cx="54864" cy="210312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3941064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HorizonDB: 단, 완전히 같은 조건의 비교는 아님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154424"/>
            <a:ext cx="4983480" cy="155447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HorizonDB는 캐시 메모리가 5배 이상 커서 데이터 전체가 메모리에 상주 (보고서에 명시)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시간당 요금도 약 1.8배 — 비용까지 고려한 판단 필요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78D4"/>
                </a:solidFill>
                <a:latin typeface="Malgun Gothic"/>
              </a:rPr>
              <a:t>본 문서의 모든 수치는 검증 기준(6쪽)을 통과한 측정에서만 산출했습니다. 통과하지 못한 측정은 결과에서 제외하고 사유를 기록했습니다.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왜 이 테스트를 다시 설계했나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4465C"/>
                </a:solidFill>
                <a:latin typeface="Malgun Gothic"/>
              </a:rPr>
              <a:t>이전 두 차례 시도는 파이프라인은 완성했지만, 아래 세 가지 이유로 “성능 비교”로 쓸 수 있는 데이터를 남기지 못했습니다.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356616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54864" cy="201168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112264"/>
            <a:ext cx="31089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데이터가 너무 작았다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18004"/>
            <a:ext cx="310896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데이터 전체가 DB 메모리에 올라가 디스크를 한 번도 읽지 않음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→ 스토리지 비교인데 스토리지가 쓰이지 않는 실험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965960"/>
            <a:ext cx="356616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79" y="1965960"/>
            <a:ext cx="54864" cy="201168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79" y="2112264"/>
            <a:ext cx="31089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부하 도구가 먼저 무너졌다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318004"/>
            <a:ext cx="310896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연결 수보다 훨씬 많은 요청을 밀어 넣어 클라이언트 쪽에서 타임아웃 폭주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→ DB 한계가 아니라 측정 도구의 한계를 기록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1965960"/>
            <a:ext cx="356616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19" y="1965960"/>
            <a:ext cx="54864" cy="201168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19" y="2112264"/>
            <a:ext cx="31089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서버 쪽 증거가 없었다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318004"/>
            <a:ext cx="310896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시간대 변환 오류로 서버 지표가 실험 시간과 어긋나 전부 비어 있음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→ DB가 실제로 어떤 상태였는지 증명 불가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06240"/>
            <a:ext cx="108813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4206240"/>
            <a:ext cx="54864" cy="17373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35254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이번 설계의 핵심: “실패 조건을 먼저 정의”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65904"/>
            <a:ext cx="10424160" cy="118871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측정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전 10가지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검증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기준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(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게이트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)을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정하고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,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하나라도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어기면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그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측정은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폐기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후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재실행</a:t>
            </a:r>
            <a:endParaRPr sz="1150" b="0" dirty="0">
              <a:solidFill>
                <a:srgbClr val="34465C"/>
              </a:solidFill>
              <a:latin typeface="Malgun Gothic"/>
            </a:endParaRPr>
          </a:p>
          <a:p>
            <a:pPr algn="l">
              <a:spcAft>
                <a:spcPts val="500"/>
              </a:spcAft>
            </a:pPr>
            <a:r>
              <a:rPr sz="115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데이터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크기를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메모리의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3배(약 24GiB)로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키워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디스크가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실제로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일하는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상태에서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측정</a:t>
            </a:r>
            <a:endParaRPr sz="1150" b="0" dirty="0">
              <a:solidFill>
                <a:srgbClr val="34465C"/>
              </a:solidFill>
              <a:latin typeface="Malgun Gothic"/>
            </a:endParaRPr>
          </a:p>
          <a:p>
            <a:pPr algn="l">
              <a:spcAft>
                <a:spcPts val="500"/>
              </a:spcAft>
            </a:pPr>
            <a:r>
              <a:rPr sz="115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클라이언트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자원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(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CPU·연결·큐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)을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함께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기록해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“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측정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도구가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병목이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아니었다”를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증명</a:t>
            </a:r>
            <a:endParaRPr sz="1150" b="0" dirty="0">
              <a:solidFill>
                <a:srgbClr val="34465C"/>
              </a:solidFill>
              <a:latin typeface="Malgun Gothic"/>
            </a:endParaRPr>
          </a:p>
          <a:p>
            <a:pPr algn="l">
              <a:spcAft>
                <a:spcPts val="500"/>
              </a:spcAft>
            </a:pPr>
            <a:r>
              <a:rPr sz="115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서버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지표는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UTC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기준으로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측정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구간에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정확히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잘라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결과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파일에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첨부</a:t>
            </a:r>
            <a:endParaRPr sz="1150" b="0" dirty="0">
              <a:solidFill>
                <a:srgbClr val="34465C"/>
              </a:solidFill>
              <a:latin typeface="Malgun Gothic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어떻게 측정했나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840480" cy="4572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840480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338328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0E6FF"/>
                </a:solidFill>
                <a:latin typeface="Malgun Gothic"/>
              </a:rPr>
              <a:t>게임 서비스 워크로드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383280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250만 계정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3383280" cy="3108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 dirty="0">
                <a:solidFill>
                  <a:srgbClr val="D6E4F2"/>
                </a:solidFill>
                <a:latin typeface="Malgun Gothic"/>
              </a:rPr>
              <a:t>·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계정·인벤토리·세션·구매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원장·매치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결과·랭킹·길드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8개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테이블</a:t>
            </a:r>
            <a:endParaRPr sz="1150" b="0" dirty="0">
              <a:solidFill>
                <a:srgbClr val="D6E4F2"/>
              </a:solidFill>
              <a:latin typeface="Malgun Gothic"/>
            </a:endParaRPr>
          </a:p>
          <a:p>
            <a:pPr algn="l">
              <a:spcAft>
                <a:spcPts val="700"/>
              </a:spcAft>
            </a:pPr>
            <a:r>
              <a:rPr sz="1150" b="0" dirty="0">
                <a:solidFill>
                  <a:srgbClr val="D6E4F2"/>
                </a:solidFill>
                <a:latin typeface="Malgun Gothic"/>
              </a:rPr>
              <a:t>·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압축이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안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되는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랜덤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데이터로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약 24GiB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구성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(DB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캐시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8GiB의 3배)</a:t>
            </a:r>
          </a:p>
          <a:p>
            <a:pPr algn="l">
              <a:spcAft>
                <a:spcPts val="700"/>
              </a:spcAft>
            </a:pPr>
            <a:r>
              <a:rPr sz="1150" b="0" dirty="0">
                <a:solidFill>
                  <a:srgbClr val="D6E4F2"/>
                </a:solidFill>
                <a:latin typeface="Malgun Gothic"/>
              </a:rPr>
              <a:t>·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읽기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65% /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쓰기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35%의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일반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플레이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믹스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외에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쓰기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집중·로그인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러시·핫스팟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시나리오</a:t>
            </a:r>
            <a:endParaRPr sz="1150" b="0" dirty="0">
              <a:solidFill>
                <a:srgbClr val="D6E4F2"/>
              </a:solidFill>
              <a:latin typeface="Malgun Gothic"/>
            </a:endParaRPr>
          </a:p>
          <a:p>
            <a:pPr algn="l">
              <a:spcAft>
                <a:spcPts val="700"/>
              </a:spcAft>
            </a:pPr>
            <a:r>
              <a:rPr sz="1150" b="0" dirty="0">
                <a:solidFill>
                  <a:srgbClr val="D6E4F2"/>
                </a:solidFill>
                <a:latin typeface="Malgun Gothic"/>
              </a:rPr>
              <a:t>·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구매는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원장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기록과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잔액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차감이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함께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묶인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트랜잭션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—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측정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후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장부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대조로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데이터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훼손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여부</a:t>
            </a:r>
            <a:r>
              <a:rPr sz="1150" b="0" dirty="0">
                <a:solidFill>
                  <a:srgbClr val="D6E4F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D6E4F2"/>
                </a:solidFill>
                <a:latin typeface="Malgun Gothic"/>
              </a:rPr>
              <a:t>확인</a:t>
            </a:r>
            <a:endParaRPr sz="1150" b="0" dirty="0">
              <a:solidFill>
                <a:srgbClr val="D6E4F2"/>
              </a:solidFill>
              <a:latin typeface="Malgun Gothic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0" y="1463040"/>
            <a:ext cx="667512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0" y="1463040"/>
            <a:ext cx="54864" cy="21488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00600" y="1609344"/>
            <a:ext cx="6217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부하는 “현실적인 방식”으로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822704"/>
            <a:ext cx="6217920" cy="1600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먼저 동시성을 계단식으로 올려 서버가 감당 가능한 한계점(knee)을 찾음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본 측정은 한계점의 65% 수준에서 초당 요청 수를 고정해 10분간 진행 — 실제 서비스처럼 요청이 서버 상태와 무관하게 계속 도착하는 방식(open-loop)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응답시간은 “요청이 도착하기로 한 시각”부터 측정해 대기 시간 누락 없이 기록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3840480"/>
            <a:ext cx="667512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0" y="3840480"/>
            <a:ext cx="54864" cy="219456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00600" y="3986784"/>
            <a:ext cx="6217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비교는 “공정한 방식”으로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4200144"/>
            <a:ext cx="6217920" cy="164591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두 비교 대상을 같은 시각에 나란히 실행 — 네트워크·시간대 요인이 양쪽에 똑같이 작용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시나리오마다 3~5회 반복하고, 효과 크기는 반복 쌍의 변화율 평균과 95% 신뢰구간으로 보고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예열(warmup) 후 처리량이 안정된 것을 확인한 뒤에만 측정 시작 · 반복 사이 냉각 시간 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VALIDITY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결과를 믿을 수 있는 이유 — 10가지 자동 검증 기준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기준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확인하는 것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통과 조건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G1  데이터 크기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디스크가 실제로 쓰이는 조건인가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데이터 ≥ DB 캐시의 2배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G2  스토리지 사용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디스크 읽기가 실제로 발생했나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물리 읽기 IOPS &gt; 0, 캐시 적중률 &lt; 99%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G3  클라이언트 여유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측정 도구가 병목은 아니었나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부하 VM CPU &lt; 60%, 네트워크 &lt; 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G4  대기열 지연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요청이 도구 안에서 밀리지 않았나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큐 대기 p99 &lt; 5ms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G5  오류율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정상 처리 기준의 측정인가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오류 &lt; 1%, 타임아웃 &lt; 0.5%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G6  서버 지표 정합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서버 쪽 증거가 남았나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측정 구간(UTC)과 ±1분 이내 일치, 값 존재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G7  안정 상태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예열이 끝난 뒤 측정했나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직전 2분 처리량 변동 &lt; 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G9  데이터 정합성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부하가 데이터를 훼손하지 않았나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구매 원장 합계 = 잔액 차감 합계, 음수 없음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G10 측정 시간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계획한</a:t>
                      </a:r>
                      <a:r>
                        <a:rPr sz="1100" dirty="0">
                          <a:solidFill>
                            <a:srgbClr val="12233A"/>
                          </a:solidFill>
                          <a:latin typeface="Malgun Gothic"/>
                        </a:rPr>
                        <a:t> </a:t>
                      </a:r>
                      <a:r>
                        <a:rPr sz="110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만큼</a:t>
                      </a:r>
                      <a:r>
                        <a:rPr sz="1100" dirty="0">
                          <a:solidFill>
                            <a:srgbClr val="12233A"/>
                          </a:solidFill>
                          <a:latin typeface="Malgun Gothic"/>
                        </a:rPr>
                        <a:t> </a:t>
                      </a:r>
                      <a:r>
                        <a:rPr sz="110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측정했나</a:t>
                      </a:r>
                      <a:endParaRPr sz="1100" dirty="0">
                        <a:solidFill>
                          <a:srgbClr val="12233A"/>
                        </a:solidFill>
                        <a:latin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계획</a:t>
                      </a:r>
                      <a:r>
                        <a:rPr sz="1100" dirty="0">
                          <a:solidFill>
                            <a:srgbClr val="12233A"/>
                          </a:solidFill>
                          <a:latin typeface="Malgun Gothic"/>
                        </a:rPr>
                        <a:t> </a:t>
                      </a:r>
                      <a:r>
                        <a:rPr sz="110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시간의</a:t>
                      </a:r>
                      <a:r>
                        <a:rPr sz="1100" dirty="0">
                          <a:solidFill>
                            <a:srgbClr val="12233A"/>
                          </a:solidFill>
                          <a:latin typeface="Malgun Gothic"/>
                        </a:rPr>
                        <a:t> 95% </a:t>
                      </a:r>
                      <a:r>
                        <a:rPr sz="110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이상</a:t>
                      </a:r>
                      <a:r>
                        <a:rPr sz="1100" dirty="0">
                          <a:solidFill>
                            <a:srgbClr val="12233A"/>
                          </a:solidFill>
                          <a:latin typeface="Malgun Gothic"/>
                        </a:rPr>
                        <a:t> </a:t>
                      </a:r>
                      <a:r>
                        <a:rPr sz="110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실행</a:t>
                      </a:r>
                      <a:endParaRPr sz="1100" dirty="0">
                        <a:solidFill>
                          <a:srgbClr val="12233A"/>
                        </a:solidFill>
                        <a:latin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6191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endParaRPr lang="en-US" sz="1150" b="1" dirty="0">
              <a:solidFill>
                <a:srgbClr val="12233A"/>
              </a:solidFill>
              <a:latin typeface="Malgun Gothic"/>
            </a:endParaRPr>
          </a:p>
          <a:p>
            <a:pPr algn="l">
              <a:spcAft>
                <a:spcPts val="400"/>
              </a:spcAft>
            </a:pPr>
            <a:r>
              <a:rPr sz="1150" b="1" dirty="0" err="1">
                <a:solidFill>
                  <a:srgbClr val="12233A"/>
                </a:solidFill>
                <a:latin typeface="Malgun Gothic"/>
              </a:rPr>
              <a:t>하나라도</a:t>
            </a:r>
            <a:r>
              <a:rPr sz="1150" b="1" dirty="0">
                <a:solidFill>
                  <a:srgbClr val="12233A"/>
                </a:solidFill>
                <a:latin typeface="Malgun Gothic"/>
              </a:rPr>
              <a:t> </a:t>
            </a:r>
            <a:r>
              <a:rPr sz="1150" b="1" dirty="0" err="1">
                <a:solidFill>
                  <a:srgbClr val="12233A"/>
                </a:solidFill>
                <a:latin typeface="Malgun Gothic"/>
              </a:rPr>
              <a:t>어기면</a:t>
            </a:r>
            <a:r>
              <a:rPr sz="1150" b="1" dirty="0">
                <a:solidFill>
                  <a:srgbClr val="12233A"/>
                </a:solidFill>
                <a:latin typeface="Malgun Gothic"/>
              </a:rPr>
              <a:t> 그 </a:t>
            </a:r>
            <a:r>
              <a:rPr sz="1150" b="1" dirty="0" err="1">
                <a:solidFill>
                  <a:srgbClr val="12233A"/>
                </a:solidFill>
                <a:latin typeface="Malgun Gothic"/>
              </a:rPr>
              <a:t>측정은</a:t>
            </a:r>
            <a:r>
              <a:rPr sz="1150" b="1" dirty="0">
                <a:solidFill>
                  <a:srgbClr val="12233A"/>
                </a:solidFill>
                <a:latin typeface="Malgun Gothic"/>
              </a:rPr>
              <a:t> </a:t>
            </a:r>
            <a:r>
              <a:rPr sz="1150" b="1" dirty="0" err="1">
                <a:solidFill>
                  <a:srgbClr val="12233A"/>
                </a:solidFill>
                <a:latin typeface="Malgun Gothic"/>
              </a:rPr>
              <a:t>결과에서</a:t>
            </a:r>
            <a:r>
              <a:rPr sz="1150" b="1" dirty="0">
                <a:solidFill>
                  <a:srgbClr val="12233A"/>
                </a:solidFill>
                <a:latin typeface="Malgun Gothic"/>
              </a:rPr>
              <a:t> </a:t>
            </a:r>
            <a:r>
              <a:rPr sz="1150" b="1" dirty="0" err="1">
                <a:solidFill>
                  <a:srgbClr val="12233A"/>
                </a:solidFill>
                <a:latin typeface="Malgun Gothic"/>
              </a:rPr>
              <a:t>제외하고</a:t>
            </a:r>
            <a:r>
              <a:rPr sz="1150" b="1" dirty="0">
                <a:solidFill>
                  <a:srgbClr val="12233A"/>
                </a:solidFill>
                <a:latin typeface="Malgun Gothic"/>
              </a:rPr>
              <a:t>, </a:t>
            </a:r>
            <a:r>
              <a:rPr sz="1150" b="1" dirty="0" err="1">
                <a:solidFill>
                  <a:srgbClr val="12233A"/>
                </a:solidFill>
                <a:latin typeface="Malgun Gothic"/>
              </a:rPr>
              <a:t>원인을</a:t>
            </a:r>
            <a:r>
              <a:rPr sz="1150" b="1" dirty="0">
                <a:solidFill>
                  <a:srgbClr val="12233A"/>
                </a:solidFill>
                <a:latin typeface="Malgun Gothic"/>
              </a:rPr>
              <a:t> </a:t>
            </a:r>
            <a:r>
              <a:rPr sz="1150" b="1" dirty="0" err="1">
                <a:solidFill>
                  <a:srgbClr val="12233A"/>
                </a:solidFill>
                <a:latin typeface="Malgun Gothic"/>
              </a:rPr>
              <a:t>고친</a:t>
            </a:r>
            <a:r>
              <a:rPr sz="1150" b="1" dirty="0">
                <a:solidFill>
                  <a:srgbClr val="12233A"/>
                </a:solidFill>
                <a:latin typeface="Malgun Gothic"/>
              </a:rPr>
              <a:t> 뒤 </a:t>
            </a:r>
            <a:r>
              <a:rPr sz="1150" b="1" dirty="0" err="1">
                <a:solidFill>
                  <a:srgbClr val="12233A"/>
                </a:solidFill>
                <a:latin typeface="Malgun Gothic"/>
              </a:rPr>
              <a:t>다시</a:t>
            </a:r>
            <a:r>
              <a:rPr sz="1150" b="1" dirty="0">
                <a:solidFill>
                  <a:srgbClr val="12233A"/>
                </a:solidFill>
                <a:latin typeface="Malgun Gothic"/>
              </a:rPr>
              <a:t> </a:t>
            </a:r>
            <a:r>
              <a:rPr sz="1150" b="1" dirty="0" err="1">
                <a:solidFill>
                  <a:srgbClr val="12233A"/>
                </a:solidFill>
                <a:latin typeface="Malgun Gothic"/>
              </a:rPr>
              <a:t>측정했습니다</a:t>
            </a:r>
            <a:r>
              <a:rPr sz="1150" b="1" dirty="0">
                <a:solidFill>
                  <a:srgbClr val="12233A"/>
                </a:solidFill>
                <a:latin typeface="Malgun Gothic"/>
              </a:rPr>
              <a:t>.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제외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내역은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부록의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실행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로그에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모두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남아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있습니다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.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최종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데이터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정합성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검사는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4개 DB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모두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34465C"/>
                </a:solidFill>
                <a:latin typeface="Malgun Gothic"/>
              </a:rPr>
              <a:t>위반</a:t>
            </a:r>
            <a:r>
              <a:rPr sz="1150" b="0" dirty="0">
                <a:solidFill>
                  <a:srgbClr val="34465C"/>
                </a:solidFill>
                <a:latin typeface="Malgun Gothic"/>
              </a:rPr>
              <a:t> 0건이었습니다.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0" y="0"/>
            <a:ext cx="3776472" cy="6858000"/>
          </a:xfrm>
          <a:prstGeom prst="rect">
            <a:avLst/>
          </a:prstGeom>
          <a:solidFill>
            <a:srgbClr val="0E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54864" cy="685800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029200" cy="2743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>
                <a:solidFill>
                  <a:srgbClr val="13375E"/>
                </a:solidFill>
                <a:latin typeface="Malgun Gothi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401568"/>
            <a:ext cx="64008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39312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0E6FF"/>
                </a:solidFill>
                <a:latin typeface="Malgun Gothic"/>
              </a:rPr>
              <a:t>SECTION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680960" cy="113467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3400" b="1" dirty="0">
                <a:solidFill>
                  <a:srgbClr val="FFFFFF"/>
                </a:solidFill>
                <a:latin typeface="Malgun Gothic"/>
              </a:rPr>
              <a:t>Azure </a:t>
            </a:r>
            <a:r>
              <a:rPr sz="3400" b="1" dirty="0">
                <a:solidFill>
                  <a:srgbClr val="FFFFFF"/>
                </a:solidFill>
                <a:latin typeface="Malgun Gothic"/>
              </a:rPr>
              <a:t>MySQL</a:t>
            </a:r>
            <a:r>
              <a:rPr lang="en-US" sz="3400" b="1" dirty="0">
                <a:solidFill>
                  <a:srgbClr val="FFFFFF"/>
                </a:solidFill>
                <a:latin typeface="Malgun Gothic"/>
              </a:rPr>
              <a:t> Flexible</a:t>
            </a:r>
            <a:r>
              <a:rPr sz="3400" b="1" dirty="0">
                <a:solidFill>
                  <a:srgbClr val="FFFFFF"/>
                </a:solidFill>
                <a:latin typeface="Malgun Gothic"/>
              </a:rPr>
              <a:t> </a:t>
            </a:r>
            <a:endParaRPr lang="en-US" sz="3400" b="1" dirty="0">
              <a:solidFill>
                <a:srgbClr val="FFFFFF"/>
              </a:solidFill>
              <a:latin typeface="Malgun Gothic"/>
            </a:endParaRPr>
          </a:p>
          <a:p>
            <a:pPr algn="l">
              <a:spcAft>
                <a:spcPts val="400"/>
              </a:spcAft>
            </a:pPr>
            <a:r>
              <a:rPr sz="3400" b="1" dirty="0">
                <a:solidFill>
                  <a:srgbClr val="FFFFFF"/>
                </a:solidFill>
                <a:latin typeface="Malgun Gothic"/>
              </a:rPr>
              <a:t>— SSD v1 vs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33567"/>
            <a:ext cx="7498079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FB4D9"/>
                </a:solidFill>
                <a:latin typeface="Malgun Gothic"/>
              </a:rPr>
              <a:t>Azure Database for MySQL – Flexible Server (8.4)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288036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0" y="278892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같은 IOPS(5,000)로 맞춘 공정 비교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3520439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60" y="342900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일반 플레이 · 쓰기 집중 · 로그인 러시 · 핫스팟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416052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52560" y="4069079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8 vCore(C1)와 16 vCore(C5·C7)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FB4D9"/>
                </a:solidFill>
                <a:latin typeface="Malgun Gothic"/>
              </a:rPr>
              <a:t>2026.08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50E6FF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MYSQL — TEST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무엇을 같게 하고, 무엇이 다른가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v1 (Premium SSD v1)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v2 (Premium SSD v2)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스토리지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Premium SSD v1 · 128GiB · 5,000 IOPS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Premium SSD v2 · 128GiB · 5,000 IOPS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비교 대상 (IOPS 동일하게 구매)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컴퓨팅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E8ds_v5 → E16ds (8→16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vCore</a:t>
                      </a:r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, 64GiB)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E8ds_v6 → E16ds (동일)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플랫폼이 v2에 v6 세대를 강제 — 통제 불가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DB 캐시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8GiB로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고정</a:t>
                      </a:r>
                      <a:endParaRPr sz="1050" dirty="0">
                        <a:solidFill>
                          <a:srgbClr val="12233A"/>
                        </a:solidFill>
                        <a:latin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8GiB로 고정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디스크가 쓰이도록 의도적으로 축소 (사전 등록)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doublewrite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OFF (플랫폼 고정)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ON (플랫폼 고정)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쓰기 경로 차이 — 통제 불가, 결과 해석에 반영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데이터·부하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동일 (같은 시드, 같은 시각 병렬 실행)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구성</a:t>
                      </a:r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케이스</a:t>
                      </a:r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: 8vCore+HA / 16vCore+HA / 16vCore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단독</a:t>
                      </a:r>
                      <a:endParaRPr sz="1050" dirty="0">
                        <a:solidFill>
                          <a:srgbClr val="12233A"/>
                        </a:solidFill>
                        <a:latin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617720"/>
            <a:ext cx="108813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4617720"/>
            <a:ext cx="54864" cy="13716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76402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해석 시 유의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62144"/>
            <a:ext cx="10424160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컴퓨팅 세대(v5/v6)와 doublewrite는 플랫폼이 고정한 값이라 분리할 수 없음 — 이 결과는 “스토리지 매체 단독”이 아니라 “SSD v1 제품 구성 vs SSD v2 제품 구성”의 비교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16 vCore로 늘려도 처리 한계가 늘지 않음 → 두 구성 모두 CPU가 아니라 스토리지가 병목인 상태에서 측정됨 (스토리지 비교로 적합한 조건)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MYSQL —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시나리오별 결과 — v2가 v1 대비 얼마나 달랐나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구성 · 시나리오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부하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반복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평균 응답(p50)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상위 1% 지연(p99)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8vCore+HA · 일반 플레이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5,000/s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−28.6%  [−39, −14]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차이 확정 불가 (편차 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v2 우세 (평균)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16vCore+HA · 일반 플레이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5,000/s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5/5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−34.0%  [−37, −30]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차이 확정 불가 (편차 큼)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v2 우세 (평균)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16vCore+HA · 쓰기 집중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3,000/s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−17.9%  [−20, −17]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−55.2%  [−62, −44]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v2 우세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16vCore+HA · 로그인 러시(3배)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2,000→6,000/s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−27.0%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요청 유실 v1 6.6% vs v2 3.8%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v2 우세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 단독 · 일반 플레이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5,000/s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−33.7%  [−35, −33]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+30.0%  [+27, +33]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엇갈림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16vCore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단독</a:t>
                      </a:r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 ·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핫스팟</a:t>
                      </a:r>
                      <a:endParaRPr sz="1050" dirty="0">
                        <a:solidFill>
                          <a:srgbClr val="12233A"/>
                        </a:solidFill>
                        <a:latin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3,000/s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−19.2%  [−20, −18]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−33.4%  [−36, −29]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v2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우세</a:t>
                      </a:r>
                      <a:endParaRPr sz="1050" dirty="0">
                        <a:solidFill>
                          <a:srgbClr val="12233A"/>
                        </a:solidFill>
                        <a:latin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78D4"/>
                </a:solidFill>
                <a:latin typeface="Malgun Gothic"/>
              </a:rPr>
              <a:t>읽는 법  </a:t>
            </a:r>
            <a:r>
              <a:rPr sz="1100" b="0">
                <a:solidFill>
                  <a:srgbClr val="34465C"/>
                </a:solidFill>
                <a:latin typeface="Malgun Gothic"/>
              </a:rPr>
              <a:t>음수 = v2가 빠름. [ ] 안은 95% 신뢰구간 — 구간이 0을 포함하면 “차이가 있다”고 확정하지 않았습니다.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0078D4"/>
                </a:solidFill>
                <a:latin typeface="Malgun Gothic"/>
              </a:rPr>
              <a:t>“차이 확정 불가”의 이유  </a:t>
            </a:r>
            <a:r>
              <a:rPr sz="1100" b="0">
                <a:solidFill>
                  <a:srgbClr val="34465C"/>
                </a:solidFill>
                <a:latin typeface="Malgun Gothic"/>
              </a:rPr>
              <a:t>일반 플레이에서는 v2가 3회 중 1회꼴로 p99가 3~4배 튀는 구간을 보여 반복 간 편차가 컸습니다. 이 급증이 없던 반복에서는 v2의 p99도 v1보다 낮았습니다.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MYSQL —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응답시간 분포 비교 (막대 = 반복 중앙값, 선 = 최소~최대)</a:t>
            </a:r>
          </a:p>
        </p:txBody>
      </p:sp>
      <p:pic>
        <p:nvPicPr>
          <p:cNvPr id="6" name="Picture 5" descr="latency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547" y="1920240"/>
            <a:ext cx="5486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7680" y="6231128"/>
            <a:ext cx="1106424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dirty="0" err="1">
                <a:solidFill>
                  <a:srgbClr val="34465C"/>
                </a:solidFill>
                <a:latin typeface="Malgun Gothic"/>
              </a:rPr>
              <a:t>세로축은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로그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스케일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—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낮을수록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좋음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. p50(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평균적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사용자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체감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)은 전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구간에서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v2(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빨강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)가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낮고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, p99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이상의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꼬리는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시나리오에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따라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우열이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갈립니다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MYSQL —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MySQL 결과가 의미하는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544068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54864" cy="22402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확실한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60803"/>
            <a:ext cx="4983480" cy="1691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평균 응답: 모든 시나리오·구성에서 v2가 18~34% 빠름 (신뢰구간이 0을 확실히 벗어남)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쓰기 집중·핫스팟처럼 디스크 쓰기가 많은 부하일수록 v2의 이점이 커짐 — p99 기준 33~55% 개선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로그인 러시(3배 버스트)에서 요청 유실이 v1의 절반 수준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508760"/>
            <a:ext cx="544068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508760"/>
            <a:ext cx="54864" cy="224028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지켜봐야 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60803"/>
            <a:ext cx="4983480" cy="1691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일반 플레이 부하에서 v2에 간헐적 p99 급증 (버퍼 오염 + 쓰기 몰림 정황, 원인 미확정)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HA 없는 구성에서는 v2의 p99가 일관되게 30% 높음 — HA 유무에 따라 꼬리 특성이 뒤집힘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doublewrite ON(v2)의 영향 가능성 — 플랫폼 고정값이라 실험으로 분리 불가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1088136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54864" cy="196596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12394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권고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29683"/>
            <a:ext cx="10424160" cy="141731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평균 응답과 쓰기 성능이 중요한 워크로드(결산·랭킹·이벤트 정산)는 v2 전환 이익이 분명함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다만 꼬리 지연에 민감한 실시간 기능이 있다면, 전환 전 24시간 이상 장시간 부하(soak)로 간헐 급증의 빈도·원인을 확인할 것을 권고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전환 시 IOPS·처리량을 독립 조정할 수 있는 v2의 과금 구조상, 현재 v1에서 IOPS 추가 구매 중인 서버일수록 비용 이점도 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0" y="0"/>
            <a:ext cx="3776472" cy="6858000"/>
          </a:xfrm>
          <a:prstGeom prst="rect">
            <a:avLst/>
          </a:prstGeom>
          <a:solidFill>
            <a:srgbClr val="0E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54864" cy="685800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029200" cy="2743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>
                <a:solidFill>
                  <a:srgbClr val="13375E"/>
                </a:solidFill>
                <a:latin typeface="Malgun Gothi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401568"/>
            <a:ext cx="64008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39312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0E6FF"/>
                </a:solidFill>
                <a:latin typeface="Malgun Gothic"/>
              </a:rPr>
              <a:t>SECTION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680960" cy="9144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PostgreSQL vs HorizonDB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7498079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FB4D9"/>
                </a:solidFill>
                <a:latin typeface="Malgun Gothic"/>
              </a:rPr>
              <a:t>Flexible Server (PG 17) vs Azure HorizonDB (Public Preview)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288036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0" y="278892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같은 vCore(8→16) · 같은 부하로 비교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3520439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60" y="342900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일반 플레이 · 쓰기 집중 · 로그인 러시 · 핫스팟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416052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52560" y="4069079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캐시 구조 차이를 명시한 조건부 비교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FB4D9"/>
                </a:solidFill>
                <a:latin typeface="Malgun Gothic"/>
              </a:rPr>
              <a:t>2026.08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50E6FF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PG vs HORIZONDB — TEST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무엇을 같게 하고, 무엇이 다른가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PostgreSQL Flexible Server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Azure HorizonDB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컴퓨팅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D8ds_v5 → D16ds_v5 (8→16 vCore)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8 → 16 vCore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vCore 수만 일치 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메모리 캐시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shared_buffers 8GB → 16GB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45GB → 90GB (자동 설정)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HorizonDB가 5배 이상 큼 — 핵심 차이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스토리지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Premium SSD P15 256GiB (1,100 IOPS)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관리형 스토리지 (내부 값 미공개)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동일하게 맞출 수 없음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HA/복제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Same-zone HA → 해제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replicaCount 1 (최소값, 축소 불가)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“HA 없음” 구성이 HorizonDB에는 없음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시간당 요금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약 $0.79 (D16ds_v5 기준)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약 $1.4 이상 (16 vCore 환산)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약 1.8배 — 비용 반영 필요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617720"/>
            <a:ext cx="108813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4617720"/>
            <a:ext cx="54864" cy="13716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76402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이 비교를 읽는 올바른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62144"/>
            <a:ext cx="10424160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데이터(23GiB)가 HorizonDB 캐시에는 전부 올라가고 PostgreSQL 캐시에는 절반도 안 올라감 → “디스크를 읽는 PG vs 메모리에서 답하는 HorizonDB”의 비교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따라서 이 결과는 “같은 돈으로 같은 vCore를 샀을 때의 체감 차이”로는 유효하지만, 엔진 자체의 우열로 해석하면 안 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PG vs HORIZONDB —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시나리오별 결과 — HorizonDB가 PostgreSQL 대비 얼마나 달랐나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구성 · 시나리오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부하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유효 반복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평균 응답(p50)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상위 1% 지연(p99)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8vCore+HA · 일반 플레이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5,500/s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−24.5%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−89.8%  [−95, −84]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HZ 우세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16vCore+HA · 일반 플레이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5,500/s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2/5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−16.9%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−87.1%  [−93, −75]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HZ 우세*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16vCore+HA ·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쓰기</a:t>
                      </a:r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집중</a:t>
                      </a:r>
                      <a:endParaRPr sz="1050" dirty="0">
                        <a:solidFill>
                          <a:srgbClr val="12233A"/>
                        </a:solidFill>
                        <a:latin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3,300/s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0/3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PG 전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회차</a:t>
                      </a:r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 수 초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멈춤</a:t>
                      </a:r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발생</a:t>
                      </a:r>
                      <a:endParaRPr sz="1050" dirty="0">
                        <a:solidFill>
                          <a:srgbClr val="12233A"/>
                        </a:solidFill>
                        <a:latin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비교 불가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16vCore+HA · 로그인 러시(3배)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2,200→6,600/s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−60.5%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−94.5% (둘 다 유실 0)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HZ 우세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 단독 · 일반 플레이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5,500/s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−14.9%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−75.0%  [−94, −46]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HZ 우세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 단독 · 핫스팟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3,300/s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2/3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−31.0%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−76.8%  [−88, −57]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>
                          <a:solidFill>
                            <a:srgbClr val="12233A"/>
                          </a:solidFill>
                          <a:latin typeface="Malgun Gothic"/>
                        </a:rPr>
                        <a:t>HZ </a:t>
                      </a:r>
                      <a:r>
                        <a:rPr sz="1050" dirty="0" err="1">
                          <a:solidFill>
                            <a:srgbClr val="12233A"/>
                          </a:solidFill>
                          <a:latin typeface="Malgun Gothic"/>
                        </a:rPr>
                        <a:t>우세</a:t>
                      </a:r>
                      <a:endParaRPr sz="1050" dirty="0">
                        <a:solidFill>
                          <a:srgbClr val="12233A"/>
                        </a:solidFill>
                        <a:latin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892040"/>
            <a:ext cx="11064240" cy="11887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dirty="0">
                <a:solidFill>
                  <a:srgbClr val="0078D4"/>
                </a:solidFill>
                <a:latin typeface="Malgun Gothic"/>
              </a:rPr>
              <a:t>* </a:t>
            </a:r>
            <a:r>
              <a:rPr sz="1100" b="1" dirty="0" err="1">
                <a:solidFill>
                  <a:srgbClr val="0078D4"/>
                </a:solidFill>
                <a:latin typeface="Malgun Gothic"/>
              </a:rPr>
              <a:t>유효</a:t>
            </a:r>
            <a:r>
              <a:rPr sz="1100" b="1" dirty="0">
                <a:solidFill>
                  <a:srgbClr val="0078D4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0078D4"/>
                </a:solidFill>
                <a:latin typeface="Malgun Gothic"/>
              </a:rPr>
              <a:t>반복이</a:t>
            </a:r>
            <a:r>
              <a:rPr sz="1100" b="1" dirty="0">
                <a:solidFill>
                  <a:srgbClr val="0078D4"/>
                </a:solidFill>
                <a:latin typeface="Malgun Gothic"/>
              </a:rPr>
              <a:t> 준 </a:t>
            </a:r>
            <a:r>
              <a:rPr sz="1100" b="1" dirty="0" err="1">
                <a:solidFill>
                  <a:srgbClr val="0078D4"/>
                </a:solidFill>
                <a:latin typeface="Malgun Gothic"/>
              </a:rPr>
              <a:t>이유</a:t>
            </a:r>
            <a:r>
              <a:rPr sz="1100" b="1" dirty="0">
                <a:solidFill>
                  <a:srgbClr val="0078D4"/>
                </a:solidFill>
                <a:latin typeface="Malgun Gothic"/>
              </a:rPr>
              <a:t> 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PostgreSQL이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측정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중 수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초간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멈추는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(stall)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구간을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보인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반복은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검증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기준에서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탈락했습니다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.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디스크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IOPS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소진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(100%)과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체크포인트가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겹친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정황이며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, 이 “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탈락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”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자체가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중요한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발견입니다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100" b="1" dirty="0" err="1">
                <a:solidFill>
                  <a:srgbClr val="12233A"/>
                </a:solidFill>
                <a:latin typeface="Malgun Gothic"/>
              </a:rPr>
              <a:t>HorizonDB는</a:t>
            </a:r>
            <a:r>
              <a:rPr sz="1100" b="1" dirty="0">
                <a:solidFill>
                  <a:srgbClr val="12233A"/>
                </a:solidFill>
                <a:latin typeface="Malgun Gothic"/>
              </a:rPr>
              <a:t> 전 </a:t>
            </a:r>
            <a:r>
              <a:rPr sz="1100" b="1" dirty="0" err="1">
                <a:solidFill>
                  <a:srgbClr val="12233A"/>
                </a:solidFill>
                <a:latin typeface="Malgun Gothic"/>
              </a:rPr>
              <a:t>시나리오에서</a:t>
            </a:r>
            <a:r>
              <a:rPr sz="1100" b="1" dirty="0">
                <a:solidFill>
                  <a:srgbClr val="12233A"/>
                </a:solidFill>
                <a:latin typeface="Malgun Gothic"/>
              </a:rPr>
              <a:t> p99 4ms </a:t>
            </a:r>
            <a:r>
              <a:rPr sz="1100" b="1" dirty="0" err="1">
                <a:solidFill>
                  <a:srgbClr val="12233A"/>
                </a:solidFill>
                <a:latin typeface="Malgun Gothic"/>
              </a:rPr>
              <a:t>안팎을</a:t>
            </a:r>
            <a:r>
              <a:rPr sz="1100" b="1" dirty="0">
                <a:solidFill>
                  <a:srgbClr val="12233A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2233A"/>
                </a:solidFill>
                <a:latin typeface="Malgun Gothic"/>
              </a:rPr>
              <a:t>유지</a:t>
            </a:r>
            <a:r>
              <a:rPr sz="1100" b="1" dirty="0">
                <a:solidFill>
                  <a:srgbClr val="12233A"/>
                </a:solidFill>
                <a:latin typeface="Malgun Gothic"/>
              </a:rPr>
              <a:t> 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—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부하를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3배로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튀겨도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흔들리지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않았습니다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. 단,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캐시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상주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조건임을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함께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볼 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PG vs HORIZONDB —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응답시간 분포 비교 (막대 = 반복 중앙값, 선 = 최소~최대)</a:t>
            </a:r>
          </a:p>
        </p:txBody>
      </p:sp>
      <p:pic>
        <p:nvPicPr>
          <p:cNvPr id="6" name="Picture 5" descr="latency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481328"/>
            <a:ext cx="5486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세로축은 로그 스케일. PostgreSQL(파랑)은 p99 이상에서 편차가 크게 벌어지는 반면, HorizonDB(빨강)는 어느 백분위에서도 거의 흔들리지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PG vs HORIZONDB —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PostgreSQL vs HorizonDB 결과가 의미하는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544068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54864" cy="2240280"/>
          </a:xfrm>
          <a:prstGeom prst="rect">
            <a:avLst/>
          </a:prstGeom>
          <a:solidFill>
            <a:srgbClr val="3E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HorizonDB의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60803"/>
            <a:ext cx="4983480" cy="1691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같은 vCore·같은 부하에서 꼬리 지연(p99)이 75~95% 낮고, 반복 간 편차가 거의 없음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로그인 러시 수준의 버스트(초당 6,600건)도 지연 변화 없이 흡수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vCore만 지정하면 캐시·스토리지를 서비스가 알아서 크게 잡아 주는 구조 자체가 운영 부담을 줄임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508760"/>
            <a:ext cx="544068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508760"/>
            <a:ext cx="54864" cy="224028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판단 전 확인할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60803"/>
            <a:ext cx="4983480" cy="1691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캐시(메모리) 우위 조건의 결과 — 데이터가 캐시보다 커지는 규모(90GiB+)에서는 재검증 필요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Public Preview 단계: 내부 스토리지 사양·일부 지표 미공개, SLA 미확정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시간당 요금 약 1.8배 — 성능/비용 환산 시 격차는 줄어듦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1088136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54864" cy="19659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12394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함께 발견한 것 — PostgreSQL 쪽 개선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29683"/>
            <a:ext cx="10424160" cy="141731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PG는 쓰기 집중 부하에서 P15 디스크의 IOPS 한도(1,100)에 걸려 수 초간 멈추는 구간이 반복 발생 → HorizonDB와 무관하게, 현재 PG를 쓰는 워크로드라면 디스크 등급(P20+ 또는 Premium SSD v2) 상향 검토 가치가 있음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HA를 끄고 캐시를 16GB로 늘린 구성에서는 PG도 p99 7~8ms로 안정 — PG의 꼬리 지연은 상당 부분 디스크·HA 구성의 문제였음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0" y="0"/>
            <a:ext cx="3776472" cy="6858000"/>
          </a:xfrm>
          <a:prstGeom prst="rect">
            <a:avLst/>
          </a:prstGeom>
          <a:solidFill>
            <a:srgbClr val="0E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54864" cy="685800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029200" cy="2743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>
                <a:solidFill>
                  <a:srgbClr val="13375E"/>
                </a:solidFill>
                <a:latin typeface="Malgun Gothi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401568"/>
            <a:ext cx="64008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39312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0E6FF"/>
                </a:solidFill>
                <a:latin typeface="Malgun Gothic"/>
              </a:rPr>
              <a:t>SECTION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680960" cy="9144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추가 검증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7498079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FB4D9"/>
                </a:solidFill>
                <a:latin typeface="Malgun Gothic"/>
              </a:rPr>
              <a:t>장시간 지속 부하 · 대용량 데이터 · 읽기 복제본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288036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0" y="278892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14.5시간 지속 부하 (MySQL v1 vs v2)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3520439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60" y="342900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92GiB 대용량 (PG vs HorizonDB)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416052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52560" y="4069079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읽기 복제본 라우팅 효과 (MySQL)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FB4D9"/>
                </a:solidFill>
                <a:latin typeface="Malgun Gothic"/>
              </a:rPr>
              <a:t>2026.08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50E6FF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EXTENDED — 14.5H SOAK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장시간 지속 부하: 10분 측정과는 다른 그림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지표 (14.5시간 누적, 초당 5,000건)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v1 (SSD v1)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v2 (SSD v2)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10분 측정과의 비교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평균 응답 (p50)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20.0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22.1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10분 측정(3.6/2.3 ms)의 6~10배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상위 5% (p95)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1.13 초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0.83 초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10분 측정(약 20 ms)의 40~55배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상위 1% (p99)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2.04 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1.21 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장시간에서는 v2 꼬리가 40% 낮음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최대 지연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7.1 초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2.4 초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v1의 최악 구간이 3배 김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오류율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10분 측정(0%)과 달리 오류 발생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663440"/>
            <a:ext cx="108813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4663440"/>
            <a:ext cx="54864" cy="13716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80974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해석 — 왜 이렇게 다른가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07864"/>
            <a:ext cx="10424160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14시간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동안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쓰기가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누적되며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데이터가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계속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커져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(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매치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기록·구매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원장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증가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) 두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제품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모두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점진적으로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느려짐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—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짧은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측정으로는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보이지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않는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운영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현실</a:t>
            </a:r>
            <a:endParaRPr sz="1100" b="0" dirty="0">
              <a:solidFill>
                <a:srgbClr val="34465C"/>
              </a:solidFill>
              <a:latin typeface="Malgun Gothic"/>
            </a:endParaRPr>
          </a:p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단기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측정에서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관찰된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"v2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간헐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급증"과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반대로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,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지속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부하에서는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v1의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꼬리·최악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구간이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더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나쁨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→ v2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전환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판단에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유리한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증거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. 단,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야간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자동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종료로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24h 중 14.5h만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측정됨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(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체크포인트로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보존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EXTENDED — 92GiB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대용량 데이터(1,000만 계정): PG는 붕괴, HorizonDB는 무변화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초당 5,501건, 10분 × 3회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PostgreSQL (D16ds + P15 디스크)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HorizonDB (16 vCore)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1회차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실질 붕괴 — 평균 응답 11.6초, 처리량 35% 미달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p99 3.9 ms, 오류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2회차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평균 3.3초, 처리량 7% 미달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p99 3.9 ms, 오류 0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3회차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평균은 회복(1 ms)됐으나 p99 8.9초 스파이크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p99 4.0 ms, 오류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서버 상태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읽기 IOPS 3,000~4,500 — 디스크 한계 초과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읽기 IOPS ~200, 캐시 적중 99.8%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480560"/>
            <a:ext cx="10881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4480560"/>
            <a:ext cx="54864" cy="1554480"/>
          </a:xfrm>
          <a:prstGeom prst="rect">
            <a:avLst/>
          </a:prstGeom>
          <a:solidFill>
            <a:srgbClr val="3E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62686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해석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24984"/>
            <a:ext cx="10424160" cy="10058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데이터가 캐시보다 훨씬 큰 조건(92GiB vs 16GB)에서 PG+P15 조합은 이 부하를 수용하지 못함 — 검증 기준 미달로 "유효 쌍 0"이지만, 이 비대칭 실패 자체가 핵심 발견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HorizonDB는 대용량에서도 캐시(90GB)가 데이터를 거의 덮어 동일 성능 유지 — 단, 데이터가 캐시의 2배를 넘는 초대용량 구간은 여전히 미검증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PG를 이 규모로 쓰려면 디스크 등급 상향(P30+/SSD v2) 또는 캐시 증설이 선행돼야 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EXTENDED — READ REPLICA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읽기 복제본 라우팅 (MySQL, 같은 서버에서 라우팅만 켜고 끔)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초당 5,000건 · 8vCore · 3회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복제본 없이 (primary만)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읽기 65%를 복제본으로 라우팅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차이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평균 응답 (p50)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3.99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3.82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-1.4% (차이 없음 수준)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상위 1% (p99)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30.4 ms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29.0 ms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-7.4% [-13%, -5%]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primary 읽기 IOPS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1,776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603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-66% — 디스크 부담 1/3로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복제 지연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측정 구간 내 이상 없음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480560"/>
            <a:ext cx="10881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4480560"/>
            <a:ext cx="54864" cy="155448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62686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해석과 제약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24984"/>
            <a:ext cx="10424160" cy="10058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응답시간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개선은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작지만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(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스토리지가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이미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여유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), primary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디스크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읽기가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1/3로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줄어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"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쓰기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여력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확보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"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효과가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분명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—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쓰기가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몰리는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서비스에서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가치</a:t>
            </a:r>
            <a:endParaRPr sz="1100" b="0" dirty="0">
              <a:solidFill>
                <a:srgbClr val="34465C"/>
              </a:solidFill>
              <a:latin typeface="Malgun Gothic"/>
            </a:endParaRPr>
          </a:p>
          <a:p>
            <a:pPr algn="l">
              <a:spcAft>
                <a:spcPts val="500"/>
              </a:spcAft>
            </a:pPr>
            <a:r>
              <a:rPr sz="110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중요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제약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: Premium SSD v2(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프리뷰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)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서버는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읽기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복제본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생성이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현재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불가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(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InternalServerError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반복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,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지원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티켓용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Tracking ID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확보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) → v2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전환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시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복제본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전략은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GA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시점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재확인</a:t>
            </a:r>
            <a:r>
              <a:rPr sz="110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dirty="0" err="1">
                <a:solidFill>
                  <a:srgbClr val="34465C"/>
                </a:solidFill>
                <a:latin typeface="Malgun Gothic"/>
              </a:rPr>
              <a:t>필요</a:t>
            </a:r>
            <a:endParaRPr sz="1100" dirty="0">
              <a:solidFill>
                <a:srgbClr val="34465C"/>
              </a:solidFill>
              <a:latin typeface="Malgun Gothic"/>
            </a:endParaRPr>
          </a:p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복제본을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늘린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HA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구성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비교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(C2·C6)는 이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제약으로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미실행</a:t>
            </a:r>
            <a:endParaRPr sz="1100" b="0" dirty="0">
              <a:solidFill>
                <a:srgbClr val="34465C"/>
              </a:solidFill>
              <a:latin typeface="Malgun 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0" y="0"/>
            <a:ext cx="3776472" cy="6858000"/>
          </a:xfrm>
          <a:prstGeom prst="rect">
            <a:avLst/>
          </a:prstGeom>
          <a:solidFill>
            <a:srgbClr val="0E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54864" cy="685800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029200" cy="2743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>
                <a:solidFill>
                  <a:srgbClr val="13375E"/>
                </a:solidFill>
                <a:latin typeface="Malgun Gothi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401568"/>
            <a:ext cx="64008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39312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0E6FF"/>
                </a:solidFill>
                <a:latin typeface="Malgun Gothic"/>
              </a:rPr>
              <a:t>SECTION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680960" cy="9144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결론과 다음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7498079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FB4D9"/>
                </a:solidFill>
                <a:latin typeface="Malgun Gothic"/>
              </a:rPr>
              <a:t>권고 사항 · 남은 검증 항목과 예상 소요 시간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288036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0" y="278892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의사결정 관점의 요약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3520439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60" y="342900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아직 확인하지 못한 항목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416052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52560" y="4069079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재현 방법과 원본 데이터 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FB4D9"/>
                </a:solidFill>
                <a:latin typeface="Malgun Gothic"/>
              </a:rPr>
              <a:t>2026.08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50E6FF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의사결정 관점의 요약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현재 답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확신 수준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MySQL 스토리지를 v2로 바꿔야 하나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평균 응답·쓰기 성능·버스트 흡수 모두 v2 우세. 꼬리 지연 민감 서비스만 장시간 검증 후 전환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높음 (평균) / 중간 (꼬리)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HorizonDB를 도입 후보로 볼 만한가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같은 vCore 기준 체감 성능은 확실히 우수. 단 캐시 우위 조건·프리뷰·1.8배 비용을 감안한 조건부 후보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중간 (조건부)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지금 PG 구성에서 개선할 것은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쓰기 부하가 있다면 디스크 등급 상향이 가장 급함 (IOPS 소진으로 인한 멈춤 실측)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높음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7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이 결과를 그대로 일반화해도 되나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반복 3~5회 기준의 방향성 결론. 수치 자체보다 “방향과 조건”을 가져갈 것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09160"/>
            <a:ext cx="11064240" cy="11887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한 줄 요약  </a:t>
            </a:r>
            <a:r>
              <a:rPr sz="1200" b="1">
                <a:solidFill>
                  <a:srgbClr val="12233A"/>
                </a:solidFill>
                <a:latin typeface="Malgun Gothic"/>
              </a:rPr>
              <a:t>“MySQL은 v2로 갈 이유가 충분하고, HorizonDB는 인상적이지만 조건을 붙여 지켜볼 단계, PG는 디스크부터 손보라”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6B82"/>
                </a:solidFill>
                <a:latin typeface="Malgun Gothic"/>
              </a:rPr>
              <a:t>모든 수치의 원본(측정 JSON·서버 지표·게이트 판정·실행 로그)은 git 저장소에 있으며, 스크립트 한 번으로 재현 가능합니다.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아직 확인하지 못한 항목과 예상 소요 시간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확인하나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예상 소요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우선순위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MySQL v2 장시간 soak (24h+)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간헐적 p99 급증의 원인 — v2 전환의 마지막 관문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1.5일(무인)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★★★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읽기 복제본 케이스 (C2·C4·C6·C8)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읽기 분산 효과 — 클라이언트 라우팅 구현 포함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2일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★★☆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8vCore 단독(C3) + 반복 5회 승격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매트릭스 완성 및 기존 3회 셀의 신뢰구간 축소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1일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★★☆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HorizonDB 대용량 재검증 (90GiB+)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캐시를 넘는 데이터에서도 우위가 유지되는지 — 도입 판단의 핵심 근거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1일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★★★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MySQL as-provisioned IOPS 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IOPS를 맞추지 않은 “기본 구성 그대로” 비교 (제품 기본값 관점)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0.5일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★☆☆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비용 정규화 (실청구 기반)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백만 트랜잭션당 실제 비용 비교 — 청구 데이터 수집 후 산출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0.5일+대기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★★☆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2233A"/>
                </a:solidFill>
                <a:latin typeface="Malgun Gothic"/>
              </a:rPr>
              <a:t>전체 진행 시 약 5~6 작업일(무인 실행 시간 포함). </a:t>
            </a:r>
            <a:r>
              <a:rPr sz="1150" b="0">
                <a:solidFill>
                  <a:srgbClr val="34465C"/>
                </a:solidFill>
                <a:latin typeface="Malgun Gothic"/>
              </a:rPr>
              <a:t>현재 모든 서버는 중지/축소 상태이며, 재시작하면 데이터 재적재 없이 이어서 측정할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재현 방법과 원본 데이터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54406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54864" cy="31089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저장소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60803"/>
            <a:ext cx="4983480" cy="2560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cmd/gamebench — 부하 도구 (Go, MySQL·PostgreSQL 공용)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scripts/ — 배포·오케스트레이션·분석·보고서 생성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results/ — 측정별 원본 JSON (클라이언트 지표 + 서버 지표 + 게이트 판정)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analysis/ — 통계 결과와 차트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docs/run-log.md — 실패·수정 이력 전체 (UTC)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docs/plan.md — 사전 등록된 실험 계획서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508760"/>
            <a:ext cx="54406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508760"/>
            <a:ext cx="54864" cy="310896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재현 절차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60803"/>
            <a:ext cx="4983480" cy="2560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서버 재시작 → 벤치 VM 시작 (데이터는 보존됨)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knee-both.sh로 한계점 탐색 → run-case.sh로 본 측정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azmon_slice.py로 서버 지표를 측정 구간에 맞춰 첨부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analyze.py로 게이트 판정과 통계 산출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build_pptx_kr.py로 이 보고서 재생성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00600"/>
            <a:ext cx="1088136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4800600"/>
            <a:ext cx="54864" cy="1188720"/>
          </a:xfrm>
          <a:prstGeom prst="rect">
            <a:avLst/>
          </a:prstGeom>
          <a:solidFill>
            <a:srgbClr val="3E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94690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측정 환경 요약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45024"/>
            <a:ext cx="1042416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Korea Central (MySQL) · Australia East (PG/HorizonDB) · 부하 VM D16ds_v5 · 모니터링 Telegraf + InfluxDB + Grafana · 총 측정 기간 2026-08-17 ~ 08-18 (UTC)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3626</Words>
  <Application>Microsoft Office PowerPoint</Application>
  <PresentationFormat>와이드스크린</PresentationFormat>
  <Paragraphs>503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Eunji Son</cp:lastModifiedBy>
  <cp:revision>3</cp:revision>
  <dcterms:created xsi:type="dcterms:W3CDTF">2013-01-27T09:14:16Z</dcterms:created>
  <dcterms:modified xsi:type="dcterms:W3CDTF">2026-09-02T09:07:16Z</dcterms:modified>
  <cp:category/>
</cp:coreProperties>
</file>